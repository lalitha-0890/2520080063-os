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8" r:id="rId3"/>
    <p:sldId id="259" r:id="rId4"/>
    <p:sldId id="260" r:id="rId5"/>
    <p:sldId id="261" r:id="rId6"/>
    <p:sldId id="262" r:id="rId7"/>
    <p:sldId id="263" r:id="rId8"/>
    <p:sldId id="264" r:id="rId9"/>
    <p:sldId id="265" r:id="rId10"/>
    <p:sldId id="266" r:id="rId11"/>
    <p:sldId id="267" r:id="rId1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3" d="100"/>
          <a:sy n="63" d="100"/>
        </p:scale>
        <p:origin x="78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llulalalitha08@outlook.com" userId="3ee9265da8d921d9" providerId="LiveId" clId="{9BF95156-721C-45E0-BEB9-AD1C5F4FA8BC}"/>
    <pc:docChg chg="undo custSel addSld delSld modSld">
      <pc:chgData name="mallulalalitha08@outlook.com" userId="3ee9265da8d921d9" providerId="LiveId" clId="{9BF95156-721C-45E0-BEB9-AD1C5F4FA8BC}" dt="2026-09-30T03:59:58.527" v="2" actId="20577"/>
      <pc:docMkLst>
        <pc:docMk/>
      </pc:docMkLst>
      <pc:sldChg chg="modSp mod">
        <pc:chgData name="mallulalalitha08@outlook.com" userId="3ee9265da8d921d9" providerId="LiveId" clId="{9BF95156-721C-45E0-BEB9-AD1C5F4FA8BC}" dt="2026-09-30T03:59:58.527" v="2" actId="20577"/>
        <pc:sldMkLst>
          <pc:docMk/>
          <pc:sldMk cId="0" sldId="261"/>
        </pc:sldMkLst>
        <pc:spChg chg="mod">
          <ac:chgData name="mallulalalitha08@outlook.com" userId="3ee9265da8d921d9" providerId="LiveId" clId="{9BF95156-721C-45E0-BEB9-AD1C5F4FA8BC}" dt="2026-09-30T03:59:58.527" v="2" actId="20577"/>
          <ac:spMkLst>
            <pc:docMk/>
            <pc:sldMk cId="0" sldId="261"/>
            <ac:spMk id="7" creationId="{00000000-0000-0000-0000-000000000000}"/>
          </ac:spMkLst>
        </pc:spChg>
      </pc:sldChg>
      <pc:sldChg chg="new del">
        <pc:chgData name="mallulalalitha08@outlook.com" userId="3ee9265da8d921d9" providerId="LiveId" clId="{9BF95156-721C-45E0-BEB9-AD1C5F4FA8BC}" dt="2026-09-30T03:59:19.311" v="1" actId="680"/>
        <pc:sldMkLst>
          <pc:docMk/>
          <pc:sldMk cId="3542003613" sldId="268"/>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031466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topic. In this talk we will see how Linux links a file name that people use to an inode number that the system uses. Start with a real-life analogy on the next slide.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directory is a special file that stores a table of entries. Each entry is a pair: name and inode number. Point out that in Linux even a directory is treated as a file whose content is this table.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The name is what we see. The directory entry is the link. The inode is what Linux uses to identify the file and find its data. Stress that the name is NOT stored inside the inode.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inode holds everything about the file except its name. Ask: if the name is not in the inode, where is it? Answer: in the directory entry. That is why one file can have more than one name.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 sensitivity surprises Windows users. Only / and the null character are forbidden in a name. Spaces are legal but awkward in the terminal, so underscores are recommended. Names starting with a dot are hidden from a normal ls.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absolute path always starts from the root slash, so it works from anywhere. A relative path starts from where you are now. Example: if you are in /home/student, then docs/report.txt and /home/student/docs/report.txt are the same file. Mention dot for current and dot-dot for parent.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Trace /home/student/notes.txt. Linux starts at root, looks up "home" in the root directory to get its inode, opens that directory and looks up "student", then finds "notes.txt" and gets inode 2050. Only then does it read the metadata and data blocks. Every step is a directory entry lookup.</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Demonstrate ls -li live if possible. Point at the first column: that number is the inode. Then explain the other commands briefly. ln creates a hard link, which leads to the next slide.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hard link is simply a second directory entry pointing to the same inode. Delete one name and the file survives because the link count drops from 2 to 1. The data is freed only when the count reaches 0. This proves names and inodes are separate things.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Repeat the main idea once: file names and inodes are separate, and directory entries connect them. Use the three-line summary as a quick recap, then invite questions.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the audience and invite questions.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9"/>
        </a:solidFill>
        <a:effectLst/>
      </p:bgPr>
    </p:bg>
    <p:spTree>
      <p:nvGrpSpPr>
        <p:cNvPr id="1" name=""/>
        <p:cNvGrpSpPr/>
        <p:nvPr/>
      </p:nvGrpSpPr>
      <p:grpSpPr>
        <a:xfrm>
          <a:off x="0" y="0"/>
          <a:ext cx="0" cy="0"/>
          <a:chOff x="0" y="0"/>
          <a:chExt cx="0" cy="0"/>
        </a:xfrm>
      </p:grpSpPr>
      <p:sp>
        <p:nvSpPr>
          <p:cNvPr id="7" name="Text 5"/>
          <p:cNvSpPr txBox="1"/>
          <p:nvPr/>
        </p:nvSpPr>
        <p:spPr>
          <a:xfrm>
            <a:off x="731520" y="1554480"/>
            <a:ext cx="6400800" cy="365760"/>
          </a:xfrm>
          <a:prstGeom prst="rect">
            <a:avLst/>
          </a:prstGeom>
          <a:noFill/>
          <a:ln/>
        </p:spPr>
        <p:txBody>
          <a:bodyPr wrap="square" lIns="0" tIns="0" rIns="0" bIns="0" rtlCol="0" anchor="ctr"/>
          <a:lstStyle/>
          <a:p>
            <a:pPr marL="0" indent="0">
              <a:buNone/>
            </a:pPr>
            <a:r>
              <a:rPr lang="en-US" sz="1400" b="1" dirty="0">
                <a:solidFill>
                  <a:srgbClr val="1FA6A0"/>
                </a:solidFill>
                <a:latin typeface="Calibri" pitchFamily="34" charset="0"/>
                <a:ea typeface="Calibri" pitchFamily="34" charset="-122"/>
                <a:cs typeface="Calibri" pitchFamily="34" charset="-120"/>
              </a:rPr>
              <a:t>TOPIC · CO5 · LINUX FILE SYSTEMS</a:t>
            </a:r>
            <a:endParaRPr lang="en-US" sz="1400" dirty="0"/>
          </a:p>
        </p:txBody>
      </p:sp>
      <p:sp>
        <p:nvSpPr>
          <p:cNvPr id="8" name="Text 6"/>
          <p:cNvSpPr txBox="1"/>
          <p:nvPr/>
        </p:nvSpPr>
        <p:spPr>
          <a:xfrm>
            <a:off x="731520" y="2011680"/>
            <a:ext cx="6583680" cy="2011680"/>
          </a:xfrm>
          <a:prstGeom prst="rect">
            <a:avLst/>
          </a:prstGeom>
          <a:noFill/>
          <a:ln/>
        </p:spPr>
        <p:txBody>
          <a:bodyPr wrap="square" lIns="0" tIns="0" rIns="0" bIns="0" rtlCol="0" anchor="ctr"/>
          <a:lstStyle/>
          <a:p>
            <a:pPr marL="0" indent="0">
              <a:buNone/>
            </a:pPr>
            <a:r>
              <a:rPr lang="en-US" sz="4800" b="1" dirty="0">
                <a:solidFill>
                  <a:srgbClr val="FFFFFF"/>
                </a:solidFill>
                <a:latin typeface="Cambria" pitchFamily="34" charset="0"/>
                <a:ea typeface="Cambria" pitchFamily="34" charset="-122"/>
                <a:cs typeface="Cambria" pitchFamily="34" charset="-120"/>
              </a:rPr>
              <a:t>Directory Entries</a:t>
            </a:r>
            <a:endParaRPr lang="en-US" sz="4800" dirty="0"/>
          </a:p>
          <a:p>
            <a:pPr marL="0" indent="0">
              <a:buNone/>
            </a:pPr>
            <a:r>
              <a:rPr lang="en-US" sz="4800" b="1" dirty="0">
                <a:solidFill>
                  <a:srgbClr val="FFFFFF"/>
                </a:solidFill>
                <a:latin typeface="Cambria" pitchFamily="34" charset="0"/>
                <a:ea typeface="Cambria" pitchFamily="34" charset="-122"/>
                <a:cs typeface="Cambria" pitchFamily="34" charset="-120"/>
              </a:rPr>
              <a:t>and File Naming</a:t>
            </a:r>
            <a:endParaRPr lang="en-US" sz="4800" dirty="0"/>
          </a:p>
        </p:txBody>
      </p:sp>
      <p:sp>
        <p:nvSpPr>
          <p:cNvPr id="9" name="Text 7"/>
          <p:cNvSpPr txBox="1"/>
          <p:nvPr/>
        </p:nvSpPr>
        <p:spPr>
          <a:xfrm>
            <a:off x="731520" y="4114800"/>
            <a:ext cx="6400800" cy="731520"/>
          </a:xfrm>
          <a:prstGeom prst="rect">
            <a:avLst/>
          </a:prstGeom>
          <a:noFill/>
          <a:ln/>
        </p:spPr>
        <p:txBody>
          <a:bodyPr wrap="square" lIns="0" tIns="0" rIns="0" bIns="0" rtlCol="0" anchor="ctr"/>
          <a:lstStyle/>
          <a:p>
            <a:pPr marL="0" indent="0">
              <a:buNone/>
            </a:pPr>
            <a:r>
              <a:rPr lang="en-US" sz="2000" i="1" dirty="0">
                <a:solidFill>
                  <a:srgbClr val="CADCFC"/>
                </a:solidFill>
                <a:latin typeface="Calibri" pitchFamily="34" charset="0"/>
                <a:ea typeface="Calibri" pitchFamily="34" charset="-122"/>
                <a:cs typeface="Calibri" pitchFamily="34" charset="-120"/>
              </a:rPr>
              <a:t>How Linux connects the names we see to the files it stores</a:t>
            </a:r>
            <a:endParaRPr lang="en-US" sz="2000" dirty="0"/>
          </a:p>
        </p:txBody>
      </p:sp>
      <p:sp>
        <p:nvSpPr>
          <p:cNvPr id="10" name="Text 8"/>
          <p:cNvSpPr txBox="1"/>
          <p:nvPr/>
        </p:nvSpPr>
        <p:spPr>
          <a:xfrm>
            <a:off x="731520" y="5760720"/>
            <a:ext cx="6400800" cy="365760"/>
          </a:xfrm>
          <a:prstGeom prst="rect">
            <a:avLst/>
          </a:prstGeom>
          <a:noFill/>
          <a:ln/>
        </p:spPr>
        <p:txBody>
          <a:bodyPr wrap="square" lIns="0" tIns="0" rIns="0" bIns="0" rtlCol="0" anchor="ctr"/>
          <a:lstStyle/>
          <a:p>
            <a:pPr marL="0" indent="0">
              <a:buNone/>
            </a:pPr>
            <a:r>
              <a:rPr lang="en-US" sz="1600" dirty="0">
                <a:solidFill>
                  <a:srgbClr val="FFFFFF"/>
                </a:solidFill>
                <a:latin typeface="Calibri" pitchFamily="34" charset="0"/>
                <a:ea typeface="Calibri" pitchFamily="34" charset="-122"/>
                <a:cs typeface="Calibri" pitchFamily="34" charset="-120"/>
              </a:rPr>
              <a:t>M. Lalitha  ·  2520080063</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bg>
      <p:bgPr>
        <a:solidFill>
          <a:srgbClr val="F2F6FB"/>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marL="0" indent="0">
              <a:buNone/>
            </a:pPr>
            <a:r>
              <a:rPr lang="en-US" sz="3400" b="1" dirty="0">
                <a:solidFill>
                  <a:srgbClr val="1B2A49"/>
                </a:solidFill>
                <a:latin typeface="Cambria" pitchFamily="34" charset="0"/>
                <a:ea typeface="Cambria" pitchFamily="34" charset="-122"/>
                <a:cs typeface="Cambria" pitchFamily="34" charset="-120"/>
              </a:rPr>
              <a:t>What Is a Directory? What Is a Directory Entry?</a:t>
            </a:r>
            <a:endParaRPr lang="en-US" sz="3400" dirty="0"/>
          </a:p>
        </p:txBody>
      </p:sp>
      <p:sp>
        <p:nvSpPr>
          <p:cNvPr id="3" name="Text 1"/>
          <p:cNvSpPr txBox="1"/>
          <p:nvPr/>
        </p:nvSpPr>
        <p:spPr>
          <a:xfrm>
            <a:off x="10698480" y="6400800"/>
            <a:ext cx="914400" cy="274320"/>
          </a:xfrm>
          <a:prstGeom prst="rect">
            <a:avLst/>
          </a:prstGeom>
          <a:noFill/>
          <a:ln/>
        </p:spPr>
        <p:txBody>
          <a:bodyPr wrap="square" lIns="0" tIns="0" rIns="0" bIns="0" rtlCol="0" anchor="ctr"/>
          <a:lstStyle/>
          <a:p>
            <a:pPr marL="0" indent="0" algn="r">
              <a:buNone/>
            </a:pPr>
            <a:r>
              <a:rPr lang="en-US" sz="1100" dirty="0">
                <a:solidFill>
                  <a:srgbClr val="5B6B85"/>
                </a:solidFill>
                <a:latin typeface="Calibri" pitchFamily="34" charset="0"/>
                <a:ea typeface="Calibri" pitchFamily="34" charset="-122"/>
                <a:cs typeface="Calibri" pitchFamily="34" charset="-120"/>
              </a:rPr>
              <a:t>3 / 12</a:t>
            </a:r>
            <a:endParaRPr lang="en-US" sz="1100" dirty="0"/>
          </a:p>
        </p:txBody>
      </p:sp>
      <p:sp>
        <p:nvSpPr>
          <p:cNvPr id="5" name="Shape 2"/>
          <p:cNvSpPr/>
          <p:nvPr/>
        </p:nvSpPr>
        <p:spPr>
          <a:xfrm>
            <a:off x="548640" y="1371600"/>
            <a:ext cx="5303520" cy="4663440"/>
          </a:xfrm>
          <a:prstGeom prst="roundRect">
            <a:avLst>
              <a:gd name="adj" fmla="val 2941"/>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sp>
      <p:sp>
        <p:nvSpPr>
          <p:cNvPr id="6" name="Text 3"/>
          <p:cNvSpPr txBox="1"/>
          <p:nvPr/>
        </p:nvSpPr>
        <p:spPr>
          <a:xfrm>
            <a:off x="822960" y="1554480"/>
            <a:ext cx="4754880" cy="457200"/>
          </a:xfrm>
          <a:prstGeom prst="rect">
            <a:avLst/>
          </a:prstGeom>
          <a:noFill/>
          <a:ln/>
        </p:spPr>
        <p:txBody>
          <a:bodyPr wrap="square" lIns="0" tIns="0" rIns="0" bIns="0" rtlCol="0" anchor="ctr"/>
          <a:lstStyle/>
          <a:p>
            <a:pPr marL="0" indent="0">
              <a:buNone/>
            </a:pPr>
            <a:r>
              <a:rPr lang="en-US" sz="2600" b="1" dirty="0">
                <a:solidFill>
                  <a:srgbClr val="1B2A49"/>
                </a:solidFill>
                <a:latin typeface="Cambria" pitchFamily="34" charset="0"/>
                <a:ea typeface="Cambria" pitchFamily="34" charset="-122"/>
                <a:cs typeface="Cambria" pitchFamily="34" charset="-120"/>
              </a:rPr>
              <a:t>Directory</a:t>
            </a:r>
            <a:endParaRPr lang="en-US" sz="2600" dirty="0"/>
          </a:p>
        </p:txBody>
      </p:sp>
      <p:sp>
        <p:nvSpPr>
          <p:cNvPr id="7" name="Text 4"/>
          <p:cNvSpPr txBox="1"/>
          <p:nvPr/>
        </p:nvSpPr>
        <p:spPr>
          <a:xfrm>
            <a:off x="822960" y="2194560"/>
            <a:ext cx="4754880" cy="201168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rgbClr val="22304A"/>
                </a:solidFill>
                <a:latin typeface="Calibri" pitchFamily="34" charset="0"/>
                <a:ea typeface="Calibri" pitchFamily="34" charset="-122"/>
                <a:cs typeface="Calibri" pitchFamily="34" charset="-120"/>
              </a:rPr>
              <a:t>A folder that organizes files and other directories</a:t>
            </a:r>
            <a:endParaRPr lang="en-US" sz="1800" dirty="0"/>
          </a:p>
          <a:p>
            <a:pPr marL="342900" indent="-342900">
              <a:spcAft>
                <a:spcPts val="1000"/>
              </a:spcAft>
              <a:buSzPct val="100000"/>
              <a:buChar char="•"/>
            </a:pPr>
            <a:r>
              <a:rPr lang="en-US" sz="1800" dirty="0">
                <a:solidFill>
                  <a:srgbClr val="22304A"/>
                </a:solidFill>
                <a:latin typeface="Calibri" pitchFamily="34" charset="0"/>
                <a:ea typeface="Calibri" pitchFamily="34" charset="-122"/>
                <a:cs typeface="Calibri" pitchFamily="34" charset="-120"/>
              </a:rPr>
              <a:t>Examples: /home, /etc, /var</a:t>
            </a:r>
            <a:endParaRPr lang="en-US" sz="1800" dirty="0"/>
          </a:p>
          <a:p>
            <a:pPr marL="342900" indent="-342900">
              <a:spcAft>
                <a:spcPts val="1000"/>
              </a:spcAft>
              <a:buSzPct val="100000"/>
              <a:buChar char="•"/>
            </a:pPr>
            <a:r>
              <a:rPr lang="en-US" sz="1800" dirty="0">
                <a:solidFill>
                  <a:srgbClr val="22304A"/>
                </a:solidFill>
                <a:latin typeface="Calibri" pitchFamily="34" charset="0"/>
                <a:ea typeface="Calibri" pitchFamily="34" charset="-122"/>
                <a:cs typeface="Calibri" pitchFamily="34" charset="-120"/>
              </a:rPr>
              <a:t>In Linux, a directory is itself a special file holding a list of entries</a:t>
            </a:r>
            <a:endParaRPr lang="en-US" sz="1800" dirty="0"/>
          </a:p>
        </p:txBody>
      </p:sp>
      <p:sp>
        <p:nvSpPr>
          <p:cNvPr id="8" name="Text 5"/>
          <p:cNvSpPr txBox="1"/>
          <p:nvPr/>
        </p:nvSpPr>
        <p:spPr>
          <a:xfrm>
            <a:off x="822960" y="4114800"/>
            <a:ext cx="4754880" cy="457200"/>
          </a:xfrm>
          <a:prstGeom prst="rect">
            <a:avLst/>
          </a:prstGeom>
          <a:noFill/>
          <a:ln/>
        </p:spPr>
        <p:txBody>
          <a:bodyPr wrap="square" lIns="0" tIns="0" rIns="0" bIns="0" rtlCol="0" anchor="ctr"/>
          <a:lstStyle/>
          <a:p>
            <a:pPr marL="0" indent="0">
              <a:buNone/>
            </a:pPr>
            <a:r>
              <a:rPr lang="en-US" sz="2600" b="1" dirty="0">
                <a:solidFill>
                  <a:srgbClr val="1FA6A0"/>
                </a:solidFill>
                <a:latin typeface="Cambria" pitchFamily="34" charset="0"/>
                <a:ea typeface="Cambria" pitchFamily="34" charset="-122"/>
                <a:cs typeface="Cambria" pitchFamily="34" charset="-120"/>
              </a:rPr>
              <a:t>Directory Entry</a:t>
            </a:r>
            <a:endParaRPr lang="en-US" sz="2600" dirty="0"/>
          </a:p>
        </p:txBody>
      </p:sp>
      <p:sp>
        <p:nvSpPr>
          <p:cNvPr id="9" name="Text 6"/>
          <p:cNvSpPr txBox="1"/>
          <p:nvPr/>
        </p:nvSpPr>
        <p:spPr>
          <a:xfrm>
            <a:off x="822960" y="4663440"/>
            <a:ext cx="4754880" cy="1097280"/>
          </a:xfrm>
          <a:prstGeom prst="rect">
            <a:avLst/>
          </a:prstGeom>
          <a:noFill/>
          <a:ln/>
        </p:spPr>
        <p:txBody>
          <a:bodyPr wrap="square" lIns="0" tIns="0" rIns="0" bIns="0" rtlCol="0" anchor="t"/>
          <a:lstStyle/>
          <a:p>
            <a:pPr marL="0" indent="0">
              <a:buNone/>
            </a:pPr>
            <a:r>
              <a:rPr lang="en-US" sz="1800" dirty="0">
                <a:solidFill>
                  <a:srgbClr val="22304A"/>
                </a:solidFill>
                <a:latin typeface="Calibri" pitchFamily="34" charset="0"/>
                <a:ea typeface="Calibri" pitchFamily="34" charset="-122"/>
                <a:cs typeface="Calibri" pitchFamily="34" charset="-120"/>
              </a:rPr>
              <a:t>One line in that list: a file name paired with an inode number.</a:t>
            </a:r>
            <a:endParaRPr lang="en-US" sz="1800" dirty="0"/>
          </a:p>
        </p:txBody>
      </p:sp>
      <p:sp>
        <p:nvSpPr>
          <p:cNvPr id="10" name="Shape 7"/>
          <p:cNvSpPr/>
          <p:nvPr/>
        </p:nvSpPr>
        <p:spPr>
          <a:xfrm>
            <a:off x="6309360" y="1371600"/>
            <a:ext cx="5303520" cy="4663440"/>
          </a:xfrm>
          <a:prstGeom prst="roundRect">
            <a:avLst>
              <a:gd name="adj" fmla="val 2941"/>
            </a:avLst>
          </a:prstGeom>
          <a:solidFill>
            <a:srgbClr val="1B2A49"/>
          </a:solidFill>
          <a:ln w="12700">
            <a:solidFill>
              <a:srgbClr val="1B2A49"/>
            </a:solidFill>
            <a:prstDash val="solid"/>
          </a:ln>
          <a:effectLst>
            <a:outerShdw blurRad="101600" dist="25400" dir="5400000" algn="bl" rotWithShape="0">
              <a:srgbClr val="000000">
                <a:alpha val="12000"/>
              </a:srgbClr>
            </a:outerShdw>
          </a:effectLst>
        </p:spPr>
      </p:sp>
      <p:sp>
        <p:nvSpPr>
          <p:cNvPr id="11" name="Text 8"/>
          <p:cNvSpPr txBox="1"/>
          <p:nvPr/>
        </p:nvSpPr>
        <p:spPr>
          <a:xfrm>
            <a:off x="6583680" y="1554480"/>
            <a:ext cx="4754880" cy="365760"/>
          </a:xfrm>
          <a:prstGeom prst="rect">
            <a:avLst/>
          </a:prstGeom>
          <a:noFill/>
          <a:ln/>
        </p:spPr>
        <p:txBody>
          <a:bodyPr wrap="square" lIns="0" tIns="0" rIns="0" bIns="0" rtlCol="0" anchor="ctr"/>
          <a:lstStyle/>
          <a:p>
            <a:pPr marL="0" indent="0">
              <a:buNone/>
            </a:pPr>
            <a:r>
              <a:rPr lang="en-US" sz="1600" b="1" dirty="0">
                <a:solidFill>
                  <a:srgbClr val="F5A623"/>
                </a:solidFill>
                <a:latin typeface="Courier New" pitchFamily="34" charset="0"/>
                <a:ea typeface="Courier New" pitchFamily="34" charset="-122"/>
                <a:cs typeface="Courier New" pitchFamily="34" charset="-120"/>
              </a:rPr>
              <a:t>Inside directory /home/student</a:t>
            </a:r>
            <a:endParaRPr lang="en-US" sz="1600" dirty="0"/>
          </a:p>
        </p:txBody>
      </p:sp>
      <p:sp>
        <p:nvSpPr>
          <p:cNvPr id="12" name="Text 9"/>
          <p:cNvSpPr txBox="1"/>
          <p:nvPr/>
        </p:nvSpPr>
        <p:spPr>
          <a:xfrm>
            <a:off x="6675120" y="2194560"/>
            <a:ext cx="2377440" cy="365760"/>
          </a:xfrm>
          <a:prstGeom prst="rect">
            <a:avLst/>
          </a:prstGeom>
          <a:noFill/>
          <a:ln/>
        </p:spPr>
        <p:txBody>
          <a:bodyPr wrap="square" lIns="0" tIns="0" rIns="0" bIns="0" rtlCol="0" anchor="ctr"/>
          <a:lstStyle/>
          <a:p>
            <a:pPr marL="0" indent="0">
              <a:buNone/>
            </a:pPr>
            <a:r>
              <a:rPr lang="en-US" sz="1400" b="1" dirty="0">
                <a:solidFill>
                  <a:srgbClr val="CADCFC"/>
                </a:solidFill>
                <a:latin typeface="Calibri" pitchFamily="34" charset="0"/>
                <a:ea typeface="Calibri" pitchFamily="34" charset="-122"/>
                <a:cs typeface="Calibri" pitchFamily="34" charset="-120"/>
              </a:rPr>
              <a:t>NAME</a:t>
            </a:r>
            <a:endParaRPr lang="en-US" sz="1400" dirty="0"/>
          </a:p>
        </p:txBody>
      </p:sp>
      <p:sp>
        <p:nvSpPr>
          <p:cNvPr id="13" name="Text 10"/>
          <p:cNvSpPr txBox="1"/>
          <p:nvPr/>
        </p:nvSpPr>
        <p:spPr>
          <a:xfrm>
            <a:off x="9326880" y="2194560"/>
            <a:ext cx="2011680" cy="365760"/>
          </a:xfrm>
          <a:prstGeom prst="rect">
            <a:avLst/>
          </a:prstGeom>
          <a:noFill/>
          <a:ln/>
        </p:spPr>
        <p:txBody>
          <a:bodyPr wrap="square" lIns="0" tIns="0" rIns="0" bIns="0" rtlCol="0" anchor="ctr"/>
          <a:lstStyle/>
          <a:p>
            <a:pPr marL="0" indent="0">
              <a:buNone/>
            </a:pPr>
            <a:r>
              <a:rPr lang="en-US" sz="1400" b="1" dirty="0">
                <a:solidFill>
                  <a:srgbClr val="CADCFC"/>
                </a:solidFill>
                <a:latin typeface="Calibri" pitchFamily="34" charset="0"/>
                <a:ea typeface="Calibri" pitchFamily="34" charset="-122"/>
                <a:cs typeface="Calibri" pitchFamily="34" charset="-120"/>
              </a:rPr>
              <a:t>INODE</a:t>
            </a:r>
            <a:endParaRPr lang="en-US" sz="1400" dirty="0"/>
          </a:p>
        </p:txBody>
      </p:sp>
      <p:sp>
        <p:nvSpPr>
          <p:cNvPr id="14" name="Shape 11"/>
          <p:cNvSpPr/>
          <p:nvPr/>
        </p:nvSpPr>
        <p:spPr>
          <a:xfrm>
            <a:off x="6583680" y="2651760"/>
            <a:ext cx="4754880" cy="594360"/>
          </a:xfrm>
          <a:prstGeom prst="roundRect">
            <a:avLst>
              <a:gd name="adj" fmla="val 15385"/>
            </a:avLst>
          </a:prstGeom>
          <a:solidFill>
            <a:srgbClr val="2C4470"/>
          </a:solidFill>
          <a:ln w="12700">
            <a:solidFill>
              <a:srgbClr val="2C4470"/>
            </a:solidFill>
            <a:prstDash val="solid"/>
          </a:ln>
        </p:spPr>
      </p:sp>
      <p:sp>
        <p:nvSpPr>
          <p:cNvPr id="15" name="Text 12"/>
          <p:cNvSpPr txBox="1"/>
          <p:nvPr/>
        </p:nvSpPr>
        <p:spPr>
          <a:xfrm>
            <a:off x="6766560" y="2651760"/>
            <a:ext cx="2468880" cy="594360"/>
          </a:xfrm>
          <a:prstGeom prst="rect">
            <a:avLst/>
          </a:prstGeom>
          <a:noFill/>
          <a:ln/>
        </p:spPr>
        <p:txBody>
          <a:bodyPr wrap="square" lIns="0" tIns="0" rIns="0" bIns="0" rtlCol="0" anchor="ctr"/>
          <a:lstStyle/>
          <a:p>
            <a:pPr marL="0" indent="0">
              <a:buNone/>
            </a:pPr>
            <a:r>
              <a:rPr lang="en-US" sz="1800" dirty="0">
                <a:solidFill>
                  <a:srgbClr val="FFFFFF"/>
                </a:solidFill>
                <a:latin typeface="Courier New" pitchFamily="34" charset="0"/>
                <a:ea typeface="Courier New" pitchFamily="34" charset="-122"/>
                <a:cs typeface="Courier New" pitchFamily="34" charset="-120"/>
              </a:rPr>
              <a:t>report.txt</a:t>
            </a:r>
            <a:endParaRPr lang="en-US" sz="1800" dirty="0"/>
          </a:p>
        </p:txBody>
      </p:sp>
      <p:sp>
        <p:nvSpPr>
          <p:cNvPr id="16" name="Text 13"/>
          <p:cNvSpPr txBox="1"/>
          <p:nvPr/>
        </p:nvSpPr>
        <p:spPr>
          <a:xfrm>
            <a:off x="9006840" y="2651760"/>
            <a:ext cx="365760" cy="594360"/>
          </a:xfrm>
          <a:prstGeom prst="rect">
            <a:avLst/>
          </a:prstGeom>
          <a:noFill/>
          <a:ln/>
        </p:spPr>
        <p:txBody>
          <a:bodyPr wrap="square" lIns="0" tIns="0" rIns="0" bIns="0" rtlCol="0" anchor="ctr"/>
          <a:lstStyle/>
          <a:p>
            <a:pPr marL="0" indent="0">
              <a:buNone/>
            </a:pPr>
            <a:r>
              <a:rPr lang="en-US" sz="2000" b="1" dirty="0">
                <a:solidFill>
                  <a:srgbClr val="F5A623"/>
                </a:solidFill>
                <a:latin typeface="Calibri" pitchFamily="34" charset="0"/>
                <a:ea typeface="Calibri" pitchFamily="34" charset="-122"/>
                <a:cs typeface="Calibri" pitchFamily="34" charset="-120"/>
              </a:rPr>
              <a:t>→</a:t>
            </a:r>
            <a:endParaRPr lang="en-US" sz="2000" dirty="0"/>
          </a:p>
        </p:txBody>
      </p:sp>
      <p:sp>
        <p:nvSpPr>
          <p:cNvPr id="17" name="Text 14"/>
          <p:cNvSpPr txBox="1"/>
          <p:nvPr/>
        </p:nvSpPr>
        <p:spPr>
          <a:xfrm>
            <a:off x="9418320" y="2651760"/>
            <a:ext cx="1828800" cy="594360"/>
          </a:xfrm>
          <a:prstGeom prst="rect">
            <a:avLst/>
          </a:prstGeom>
          <a:noFill/>
          <a:ln/>
        </p:spPr>
        <p:txBody>
          <a:bodyPr wrap="square" lIns="0" tIns="0" rIns="0" bIns="0" rtlCol="0" anchor="ctr"/>
          <a:lstStyle/>
          <a:p>
            <a:pPr marL="0" indent="0">
              <a:buNone/>
            </a:pPr>
            <a:r>
              <a:rPr lang="en-US" sz="1800" b="1" dirty="0">
                <a:solidFill>
                  <a:srgbClr val="1FA6A0"/>
                </a:solidFill>
                <a:latin typeface="Courier New" pitchFamily="34" charset="0"/>
                <a:ea typeface="Courier New" pitchFamily="34" charset="-122"/>
                <a:cs typeface="Courier New" pitchFamily="34" charset="-120"/>
              </a:rPr>
              <a:t>1052</a:t>
            </a:r>
            <a:endParaRPr lang="en-US" sz="1800" dirty="0"/>
          </a:p>
        </p:txBody>
      </p:sp>
      <p:sp>
        <p:nvSpPr>
          <p:cNvPr id="18" name="Shape 15"/>
          <p:cNvSpPr/>
          <p:nvPr/>
        </p:nvSpPr>
        <p:spPr>
          <a:xfrm>
            <a:off x="6583680" y="3429000"/>
            <a:ext cx="4754880" cy="594360"/>
          </a:xfrm>
          <a:prstGeom prst="roundRect">
            <a:avLst>
              <a:gd name="adj" fmla="val 15385"/>
            </a:avLst>
          </a:prstGeom>
          <a:solidFill>
            <a:srgbClr val="2C4470"/>
          </a:solidFill>
          <a:ln w="12700">
            <a:solidFill>
              <a:srgbClr val="2C4470"/>
            </a:solidFill>
            <a:prstDash val="solid"/>
          </a:ln>
        </p:spPr>
      </p:sp>
      <p:sp>
        <p:nvSpPr>
          <p:cNvPr id="19" name="Text 16"/>
          <p:cNvSpPr txBox="1"/>
          <p:nvPr/>
        </p:nvSpPr>
        <p:spPr>
          <a:xfrm>
            <a:off x="6766560" y="3429000"/>
            <a:ext cx="2468880" cy="594360"/>
          </a:xfrm>
          <a:prstGeom prst="rect">
            <a:avLst/>
          </a:prstGeom>
          <a:noFill/>
          <a:ln/>
        </p:spPr>
        <p:txBody>
          <a:bodyPr wrap="square" lIns="0" tIns="0" rIns="0" bIns="0" rtlCol="0" anchor="ctr"/>
          <a:lstStyle/>
          <a:p>
            <a:pPr marL="0" indent="0">
              <a:buNone/>
            </a:pPr>
            <a:r>
              <a:rPr lang="en-US" sz="1800" dirty="0">
                <a:solidFill>
                  <a:srgbClr val="FFFFFF"/>
                </a:solidFill>
                <a:latin typeface="Courier New" pitchFamily="34" charset="0"/>
                <a:ea typeface="Courier New" pitchFamily="34" charset="-122"/>
                <a:cs typeface="Courier New" pitchFamily="34" charset="-120"/>
              </a:rPr>
              <a:t>notes.txt</a:t>
            </a:r>
            <a:endParaRPr lang="en-US" sz="1800" dirty="0"/>
          </a:p>
        </p:txBody>
      </p:sp>
      <p:sp>
        <p:nvSpPr>
          <p:cNvPr id="20" name="Text 17"/>
          <p:cNvSpPr txBox="1"/>
          <p:nvPr/>
        </p:nvSpPr>
        <p:spPr>
          <a:xfrm>
            <a:off x="9006840" y="3429000"/>
            <a:ext cx="365760" cy="594360"/>
          </a:xfrm>
          <a:prstGeom prst="rect">
            <a:avLst/>
          </a:prstGeom>
          <a:noFill/>
          <a:ln/>
        </p:spPr>
        <p:txBody>
          <a:bodyPr wrap="square" lIns="0" tIns="0" rIns="0" bIns="0" rtlCol="0" anchor="ctr"/>
          <a:lstStyle/>
          <a:p>
            <a:pPr marL="0" indent="0">
              <a:buNone/>
            </a:pPr>
            <a:r>
              <a:rPr lang="en-US" sz="2000" b="1" dirty="0">
                <a:solidFill>
                  <a:srgbClr val="F5A623"/>
                </a:solidFill>
                <a:latin typeface="Calibri" pitchFamily="34" charset="0"/>
                <a:ea typeface="Calibri" pitchFamily="34" charset="-122"/>
                <a:cs typeface="Calibri" pitchFamily="34" charset="-120"/>
              </a:rPr>
              <a:t>→</a:t>
            </a:r>
            <a:endParaRPr lang="en-US" sz="2000" dirty="0"/>
          </a:p>
        </p:txBody>
      </p:sp>
      <p:sp>
        <p:nvSpPr>
          <p:cNvPr id="21" name="Text 18"/>
          <p:cNvSpPr txBox="1"/>
          <p:nvPr/>
        </p:nvSpPr>
        <p:spPr>
          <a:xfrm>
            <a:off x="9418320" y="3429000"/>
            <a:ext cx="1828800" cy="594360"/>
          </a:xfrm>
          <a:prstGeom prst="rect">
            <a:avLst/>
          </a:prstGeom>
          <a:noFill/>
          <a:ln/>
        </p:spPr>
        <p:txBody>
          <a:bodyPr wrap="square" lIns="0" tIns="0" rIns="0" bIns="0" rtlCol="0" anchor="ctr"/>
          <a:lstStyle/>
          <a:p>
            <a:pPr marL="0" indent="0">
              <a:buNone/>
            </a:pPr>
            <a:r>
              <a:rPr lang="en-US" sz="1800" b="1" dirty="0">
                <a:solidFill>
                  <a:srgbClr val="1FA6A0"/>
                </a:solidFill>
                <a:latin typeface="Courier New" pitchFamily="34" charset="0"/>
                <a:ea typeface="Courier New" pitchFamily="34" charset="-122"/>
                <a:cs typeface="Courier New" pitchFamily="34" charset="-120"/>
              </a:rPr>
              <a:t>2050</a:t>
            </a:r>
            <a:endParaRPr lang="en-US" sz="1800" dirty="0"/>
          </a:p>
        </p:txBody>
      </p:sp>
      <p:sp>
        <p:nvSpPr>
          <p:cNvPr id="22" name="Shape 19"/>
          <p:cNvSpPr/>
          <p:nvPr/>
        </p:nvSpPr>
        <p:spPr>
          <a:xfrm>
            <a:off x="6583680" y="4206240"/>
            <a:ext cx="4754880" cy="594360"/>
          </a:xfrm>
          <a:prstGeom prst="roundRect">
            <a:avLst>
              <a:gd name="adj" fmla="val 15385"/>
            </a:avLst>
          </a:prstGeom>
          <a:solidFill>
            <a:srgbClr val="2C4470"/>
          </a:solidFill>
          <a:ln w="12700">
            <a:solidFill>
              <a:srgbClr val="2C4470"/>
            </a:solidFill>
            <a:prstDash val="solid"/>
          </a:ln>
        </p:spPr>
      </p:sp>
      <p:sp>
        <p:nvSpPr>
          <p:cNvPr id="23" name="Text 20"/>
          <p:cNvSpPr txBox="1"/>
          <p:nvPr/>
        </p:nvSpPr>
        <p:spPr>
          <a:xfrm>
            <a:off x="6766560" y="4206240"/>
            <a:ext cx="2468880" cy="594360"/>
          </a:xfrm>
          <a:prstGeom prst="rect">
            <a:avLst/>
          </a:prstGeom>
          <a:noFill/>
          <a:ln/>
        </p:spPr>
        <p:txBody>
          <a:bodyPr wrap="square" lIns="0" tIns="0" rIns="0" bIns="0" rtlCol="0" anchor="ctr"/>
          <a:lstStyle/>
          <a:p>
            <a:pPr marL="0" indent="0">
              <a:buNone/>
            </a:pPr>
            <a:r>
              <a:rPr lang="en-US" sz="1800" dirty="0">
                <a:solidFill>
                  <a:srgbClr val="FFFFFF"/>
                </a:solidFill>
                <a:latin typeface="Courier New" pitchFamily="34" charset="0"/>
                <a:ea typeface="Courier New" pitchFamily="34" charset="-122"/>
                <a:cs typeface="Courier New" pitchFamily="34" charset="-120"/>
              </a:rPr>
              <a:t>photo.jpg</a:t>
            </a:r>
            <a:endParaRPr lang="en-US" sz="1800" dirty="0"/>
          </a:p>
        </p:txBody>
      </p:sp>
      <p:sp>
        <p:nvSpPr>
          <p:cNvPr id="24" name="Text 21"/>
          <p:cNvSpPr txBox="1"/>
          <p:nvPr/>
        </p:nvSpPr>
        <p:spPr>
          <a:xfrm>
            <a:off x="9006840" y="4206240"/>
            <a:ext cx="365760" cy="594360"/>
          </a:xfrm>
          <a:prstGeom prst="rect">
            <a:avLst/>
          </a:prstGeom>
          <a:noFill/>
          <a:ln/>
        </p:spPr>
        <p:txBody>
          <a:bodyPr wrap="square" lIns="0" tIns="0" rIns="0" bIns="0" rtlCol="0" anchor="ctr"/>
          <a:lstStyle/>
          <a:p>
            <a:pPr marL="0" indent="0">
              <a:buNone/>
            </a:pPr>
            <a:r>
              <a:rPr lang="en-US" sz="2000" b="1" dirty="0">
                <a:solidFill>
                  <a:srgbClr val="F5A623"/>
                </a:solidFill>
                <a:latin typeface="Calibri" pitchFamily="34" charset="0"/>
                <a:ea typeface="Calibri" pitchFamily="34" charset="-122"/>
                <a:cs typeface="Calibri" pitchFamily="34" charset="-120"/>
              </a:rPr>
              <a:t>→</a:t>
            </a:r>
            <a:endParaRPr lang="en-US" sz="2000" dirty="0"/>
          </a:p>
        </p:txBody>
      </p:sp>
      <p:sp>
        <p:nvSpPr>
          <p:cNvPr id="25" name="Text 22"/>
          <p:cNvSpPr txBox="1"/>
          <p:nvPr/>
        </p:nvSpPr>
        <p:spPr>
          <a:xfrm>
            <a:off x="9418320" y="4206240"/>
            <a:ext cx="1828800" cy="594360"/>
          </a:xfrm>
          <a:prstGeom prst="rect">
            <a:avLst/>
          </a:prstGeom>
          <a:noFill/>
          <a:ln/>
        </p:spPr>
        <p:txBody>
          <a:bodyPr wrap="square" lIns="0" tIns="0" rIns="0" bIns="0" rtlCol="0" anchor="ctr"/>
          <a:lstStyle/>
          <a:p>
            <a:pPr marL="0" indent="0">
              <a:buNone/>
            </a:pPr>
            <a:r>
              <a:rPr lang="en-US" sz="1800" b="1" dirty="0">
                <a:solidFill>
                  <a:srgbClr val="1FA6A0"/>
                </a:solidFill>
                <a:latin typeface="Courier New" pitchFamily="34" charset="0"/>
                <a:ea typeface="Courier New" pitchFamily="34" charset="-122"/>
                <a:cs typeface="Courier New" pitchFamily="34" charset="-120"/>
              </a:rPr>
              <a:t>3187</a:t>
            </a:r>
            <a:endParaRPr lang="en-US" sz="1800" dirty="0"/>
          </a:p>
        </p:txBody>
      </p:sp>
      <p:sp>
        <p:nvSpPr>
          <p:cNvPr id="26" name="Shape 23"/>
          <p:cNvSpPr/>
          <p:nvPr/>
        </p:nvSpPr>
        <p:spPr>
          <a:xfrm>
            <a:off x="6583680" y="4983480"/>
            <a:ext cx="4754880" cy="594360"/>
          </a:xfrm>
          <a:prstGeom prst="roundRect">
            <a:avLst>
              <a:gd name="adj" fmla="val 15385"/>
            </a:avLst>
          </a:prstGeom>
          <a:solidFill>
            <a:srgbClr val="2C4470"/>
          </a:solidFill>
          <a:ln w="12700">
            <a:solidFill>
              <a:srgbClr val="2C4470"/>
            </a:solidFill>
            <a:prstDash val="solid"/>
          </a:ln>
        </p:spPr>
      </p:sp>
      <p:sp>
        <p:nvSpPr>
          <p:cNvPr id="27" name="Text 24"/>
          <p:cNvSpPr txBox="1"/>
          <p:nvPr/>
        </p:nvSpPr>
        <p:spPr>
          <a:xfrm>
            <a:off x="6766560" y="4983480"/>
            <a:ext cx="2468880" cy="594360"/>
          </a:xfrm>
          <a:prstGeom prst="rect">
            <a:avLst/>
          </a:prstGeom>
          <a:noFill/>
          <a:ln/>
        </p:spPr>
        <p:txBody>
          <a:bodyPr wrap="square" lIns="0" tIns="0" rIns="0" bIns="0" rtlCol="0" anchor="ctr"/>
          <a:lstStyle/>
          <a:p>
            <a:pPr marL="0" indent="0">
              <a:buNone/>
            </a:pPr>
            <a:r>
              <a:rPr lang="en-US" sz="1800" dirty="0">
                <a:solidFill>
                  <a:srgbClr val="FFFFFF"/>
                </a:solidFill>
                <a:latin typeface="Courier New" pitchFamily="34" charset="0"/>
                <a:ea typeface="Courier New" pitchFamily="34" charset="-122"/>
                <a:cs typeface="Courier New" pitchFamily="34" charset="-120"/>
              </a:rPr>
              <a:t>docs</a:t>
            </a:r>
            <a:endParaRPr lang="en-US" sz="1800" dirty="0"/>
          </a:p>
        </p:txBody>
      </p:sp>
      <p:sp>
        <p:nvSpPr>
          <p:cNvPr id="28" name="Text 25"/>
          <p:cNvSpPr txBox="1"/>
          <p:nvPr/>
        </p:nvSpPr>
        <p:spPr>
          <a:xfrm>
            <a:off x="9006840" y="4983480"/>
            <a:ext cx="365760" cy="594360"/>
          </a:xfrm>
          <a:prstGeom prst="rect">
            <a:avLst/>
          </a:prstGeom>
          <a:noFill/>
          <a:ln/>
        </p:spPr>
        <p:txBody>
          <a:bodyPr wrap="square" lIns="0" tIns="0" rIns="0" bIns="0" rtlCol="0" anchor="ctr"/>
          <a:lstStyle/>
          <a:p>
            <a:pPr marL="0" indent="0">
              <a:buNone/>
            </a:pPr>
            <a:r>
              <a:rPr lang="en-US" sz="2000" b="1" dirty="0">
                <a:solidFill>
                  <a:srgbClr val="F5A623"/>
                </a:solidFill>
                <a:latin typeface="Calibri" pitchFamily="34" charset="0"/>
                <a:ea typeface="Calibri" pitchFamily="34" charset="-122"/>
                <a:cs typeface="Calibri" pitchFamily="34" charset="-120"/>
              </a:rPr>
              <a:t>→</a:t>
            </a:r>
            <a:endParaRPr lang="en-US" sz="2000" dirty="0"/>
          </a:p>
        </p:txBody>
      </p:sp>
      <p:sp>
        <p:nvSpPr>
          <p:cNvPr id="29" name="Text 26"/>
          <p:cNvSpPr txBox="1"/>
          <p:nvPr/>
        </p:nvSpPr>
        <p:spPr>
          <a:xfrm>
            <a:off x="9418320" y="4983480"/>
            <a:ext cx="1828800" cy="594360"/>
          </a:xfrm>
          <a:prstGeom prst="rect">
            <a:avLst/>
          </a:prstGeom>
          <a:noFill/>
          <a:ln/>
        </p:spPr>
        <p:txBody>
          <a:bodyPr wrap="square" lIns="0" tIns="0" rIns="0" bIns="0" rtlCol="0" anchor="ctr"/>
          <a:lstStyle/>
          <a:p>
            <a:pPr marL="0" indent="0">
              <a:buNone/>
            </a:pPr>
            <a:r>
              <a:rPr lang="en-US" sz="1800" b="1" dirty="0">
                <a:solidFill>
                  <a:srgbClr val="1FA6A0"/>
                </a:solidFill>
                <a:latin typeface="Courier New" pitchFamily="34" charset="0"/>
                <a:ea typeface="Courier New" pitchFamily="34" charset="-122"/>
                <a:cs typeface="Courier New" pitchFamily="34" charset="-120"/>
              </a:rPr>
              <a:t>4410</a:t>
            </a:r>
            <a:endParaRPr lang="en-US" sz="1800" dirty="0"/>
          </a:p>
        </p:txBody>
      </p:sp>
      <p:sp>
        <p:nvSpPr>
          <p:cNvPr id="30" name="Text 27"/>
          <p:cNvSpPr txBox="1"/>
          <p:nvPr/>
        </p:nvSpPr>
        <p:spPr>
          <a:xfrm>
            <a:off x="6583680" y="5623560"/>
            <a:ext cx="4754880" cy="274320"/>
          </a:xfrm>
          <a:prstGeom prst="rect">
            <a:avLst/>
          </a:prstGeom>
          <a:noFill/>
          <a:ln/>
        </p:spPr>
        <p:txBody>
          <a:bodyPr wrap="square" lIns="0" tIns="0" rIns="0" bIns="0" rtlCol="0" anchor="ctr"/>
          <a:lstStyle/>
          <a:p>
            <a:pPr marL="0" indent="0">
              <a:buNone/>
            </a:pPr>
            <a:r>
              <a:rPr lang="en-US" sz="1300" i="1" dirty="0">
                <a:solidFill>
                  <a:srgbClr val="CADCFC"/>
                </a:solidFill>
                <a:latin typeface="Calibri" pitchFamily="34" charset="0"/>
                <a:ea typeface="Calibri" pitchFamily="34" charset="-122"/>
                <a:cs typeface="Calibri" pitchFamily="34" charset="-120"/>
              </a:rPr>
              <a:t>Each row = one directory entry</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F2F6FB"/>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marL="0" indent="0">
              <a:buNone/>
            </a:pPr>
            <a:r>
              <a:rPr lang="en-US" sz="3400" b="1" dirty="0">
                <a:solidFill>
                  <a:srgbClr val="1B2A49"/>
                </a:solidFill>
                <a:latin typeface="Cambria" pitchFamily="34" charset="0"/>
                <a:ea typeface="Cambria" pitchFamily="34" charset="-122"/>
                <a:cs typeface="Cambria" pitchFamily="34" charset="-120"/>
              </a:rPr>
              <a:t>Name, Directory Entry and Inode</a:t>
            </a:r>
            <a:endParaRPr lang="en-US" sz="3400" dirty="0"/>
          </a:p>
        </p:txBody>
      </p:sp>
      <p:sp>
        <p:nvSpPr>
          <p:cNvPr id="3" name="Text 1"/>
          <p:cNvSpPr txBox="1"/>
          <p:nvPr/>
        </p:nvSpPr>
        <p:spPr>
          <a:xfrm>
            <a:off x="10698480" y="6400800"/>
            <a:ext cx="914400" cy="274320"/>
          </a:xfrm>
          <a:prstGeom prst="rect">
            <a:avLst/>
          </a:prstGeom>
          <a:noFill/>
          <a:ln/>
        </p:spPr>
        <p:txBody>
          <a:bodyPr wrap="square" lIns="0" tIns="0" rIns="0" bIns="0" rtlCol="0" anchor="ctr"/>
          <a:lstStyle/>
          <a:p>
            <a:pPr marL="0" indent="0" algn="r">
              <a:buNone/>
            </a:pPr>
            <a:r>
              <a:rPr lang="en-US" sz="1100" dirty="0">
                <a:solidFill>
                  <a:srgbClr val="5B6B85"/>
                </a:solidFill>
                <a:latin typeface="Calibri" pitchFamily="34" charset="0"/>
                <a:ea typeface="Calibri" pitchFamily="34" charset="-122"/>
                <a:cs typeface="Calibri" pitchFamily="34" charset="-120"/>
              </a:rPr>
              <a:t>4 / 12</a:t>
            </a:r>
            <a:endParaRPr lang="en-US" sz="1100" dirty="0"/>
          </a:p>
        </p:txBody>
      </p:sp>
      <p:sp>
        <p:nvSpPr>
          <p:cNvPr id="5" name="Shape 2"/>
          <p:cNvSpPr/>
          <p:nvPr/>
        </p:nvSpPr>
        <p:spPr>
          <a:xfrm>
            <a:off x="640080" y="1554480"/>
            <a:ext cx="3108960" cy="2743200"/>
          </a:xfrm>
          <a:prstGeom prst="roundRect">
            <a:avLst>
              <a:gd name="adj" fmla="val 5000"/>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sp>
      <p:sp>
        <p:nvSpPr>
          <p:cNvPr id="6" name="Shape 3"/>
          <p:cNvSpPr/>
          <p:nvPr/>
        </p:nvSpPr>
        <p:spPr>
          <a:xfrm>
            <a:off x="1783080" y="1737360"/>
            <a:ext cx="822960" cy="822960"/>
          </a:xfrm>
          <a:prstGeom prst="ellipse">
            <a:avLst/>
          </a:prstGeom>
          <a:solidFill>
            <a:srgbClr val="1FA6A0"/>
          </a:solidFill>
          <a:ln w="12700">
            <a:solidFill>
              <a:srgbClr val="1FA6A0"/>
            </a:solidFill>
            <a:prstDash val="solid"/>
          </a:ln>
        </p:spPr>
      </p:sp>
      <p:sp>
        <p:nvSpPr>
          <p:cNvPr id="7" name="Text 4"/>
          <p:cNvSpPr txBox="1"/>
          <p:nvPr/>
        </p:nvSpPr>
        <p:spPr>
          <a:xfrm>
            <a:off x="1783080" y="1737360"/>
            <a:ext cx="822960" cy="822960"/>
          </a:xfrm>
          <a:prstGeom prst="rect">
            <a:avLst/>
          </a:prstGeom>
          <a:noFill/>
          <a:ln/>
        </p:spPr>
        <p:txBody>
          <a:bodyPr wrap="square" lIns="0" tIns="0" rIns="0" bIns="0"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1</a:t>
            </a:r>
            <a:endParaRPr lang="en-US" sz="2600" dirty="0"/>
          </a:p>
        </p:txBody>
      </p:sp>
      <p:sp>
        <p:nvSpPr>
          <p:cNvPr id="8" name="Text 5"/>
          <p:cNvSpPr txBox="1"/>
          <p:nvPr/>
        </p:nvSpPr>
        <p:spPr>
          <a:xfrm>
            <a:off x="731520" y="2697480"/>
            <a:ext cx="2926080" cy="411480"/>
          </a:xfrm>
          <a:prstGeom prst="rect">
            <a:avLst/>
          </a:prstGeom>
          <a:noFill/>
          <a:ln/>
        </p:spPr>
        <p:txBody>
          <a:bodyPr wrap="square" lIns="0" tIns="0" rIns="0" bIns="0" rtlCol="0" anchor="ctr"/>
          <a:lstStyle/>
          <a:p>
            <a:pPr marL="0" indent="0" algn="ctr">
              <a:buNone/>
            </a:pPr>
            <a:r>
              <a:rPr lang="en-US" sz="2200" b="1" dirty="0">
                <a:solidFill>
                  <a:srgbClr val="1B2A49"/>
                </a:solidFill>
                <a:latin typeface="Cambria" pitchFamily="34" charset="0"/>
                <a:ea typeface="Cambria" pitchFamily="34" charset="-122"/>
                <a:cs typeface="Cambria" pitchFamily="34" charset="-120"/>
              </a:rPr>
              <a:t>File Name</a:t>
            </a:r>
            <a:endParaRPr lang="en-US" sz="2200" dirty="0"/>
          </a:p>
        </p:txBody>
      </p:sp>
      <p:sp>
        <p:nvSpPr>
          <p:cNvPr id="9" name="Text 6"/>
          <p:cNvSpPr txBox="1"/>
          <p:nvPr/>
        </p:nvSpPr>
        <p:spPr>
          <a:xfrm>
            <a:off x="731520" y="3154680"/>
            <a:ext cx="2926080" cy="411480"/>
          </a:xfrm>
          <a:prstGeom prst="rect">
            <a:avLst/>
          </a:prstGeom>
          <a:noFill/>
          <a:ln/>
        </p:spPr>
        <p:txBody>
          <a:bodyPr wrap="square" lIns="0" tIns="0" rIns="0" bIns="0" rtlCol="0" anchor="ctr"/>
          <a:lstStyle/>
          <a:p>
            <a:pPr marL="0" indent="0" algn="ctr">
              <a:buNone/>
            </a:pPr>
            <a:r>
              <a:rPr lang="en-US" sz="1700" b="1" dirty="0">
                <a:solidFill>
                  <a:srgbClr val="1FA6A0"/>
                </a:solidFill>
                <a:latin typeface="Courier New" pitchFamily="34" charset="0"/>
                <a:ea typeface="Courier New" pitchFamily="34" charset="-122"/>
                <a:cs typeface="Courier New" pitchFamily="34" charset="-120"/>
              </a:rPr>
              <a:t>report.txt</a:t>
            </a:r>
            <a:endParaRPr lang="en-US" sz="1700" dirty="0"/>
          </a:p>
        </p:txBody>
      </p:sp>
      <p:sp>
        <p:nvSpPr>
          <p:cNvPr id="10" name="Text 7"/>
          <p:cNvSpPr txBox="1"/>
          <p:nvPr/>
        </p:nvSpPr>
        <p:spPr>
          <a:xfrm>
            <a:off x="731520" y="3657600"/>
            <a:ext cx="2926080" cy="365760"/>
          </a:xfrm>
          <a:prstGeom prst="rect">
            <a:avLst/>
          </a:prstGeom>
          <a:noFill/>
          <a:ln/>
        </p:spPr>
        <p:txBody>
          <a:bodyPr wrap="square" lIns="0" tIns="0" rIns="0" bIns="0" rtlCol="0" anchor="ctr"/>
          <a:lstStyle/>
          <a:p>
            <a:pPr marL="0" indent="0" algn="ctr">
              <a:buNone/>
            </a:pPr>
            <a:r>
              <a:rPr lang="en-US" sz="1500" dirty="0">
                <a:solidFill>
                  <a:srgbClr val="5B6B85"/>
                </a:solidFill>
                <a:latin typeface="Calibri" pitchFamily="34" charset="0"/>
                <a:ea typeface="Calibri" pitchFamily="34" charset="-122"/>
                <a:cs typeface="Calibri" pitchFamily="34" charset="-120"/>
              </a:rPr>
              <a:t>What we see</a:t>
            </a:r>
            <a:endParaRPr lang="en-US" sz="1500" dirty="0"/>
          </a:p>
        </p:txBody>
      </p:sp>
      <p:sp>
        <p:nvSpPr>
          <p:cNvPr id="11" name="Shape 8"/>
          <p:cNvSpPr/>
          <p:nvPr/>
        </p:nvSpPr>
        <p:spPr>
          <a:xfrm>
            <a:off x="3840480" y="2743200"/>
            <a:ext cx="548640" cy="411480"/>
          </a:xfrm>
          <a:prstGeom prst="rightArrow">
            <a:avLst/>
          </a:prstGeom>
          <a:solidFill>
            <a:srgbClr val="F5A623"/>
          </a:solidFill>
          <a:ln w="12700">
            <a:solidFill>
              <a:srgbClr val="F5A623"/>
            </a:solidFill>
            <a:prstDash val="solid"/>
          </a:ln>
        </p:spPr>
      </p:sp>
      <p:sp>
        <p:nvSpPr>
          <p:cNvPr id="12" name="Shape 9"/>
          <p:cNvSpPr/>
          <p:nvPr/>
        </p:nvSpPr>
        <p:spPr>
          <a:xfrm>
            <a:off x="4526280" y="1554480"/>
            <a:ext cx="3108960" cy="2743200"/>
          </a:xfrm>
          <a:prstGeom prst="roundRect">
            <a:avLst>
              <a:gd name="adj" fmla="val 5000"/>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sp>
      <p:sp>
        <p:nvSpPr>
          <p:cNvPr id="13" name="Shape 10"/>
          <p:cNvSpPr/>
          <p:nvPr/>
        </p:nvSpPr>
        <p:spPr>
          <a:xfrm>
            <a:off x="5669280" y="1737360"/>
            <a:ext cx="822960" cy="822960"/>
          </a:xfrm>
          <a:prstGeom prst="ellipse">
            <a:avLst/>
          </a:prstGeom>
          <a:solidFill>
            <a:srgbClr val="F5A623"/>
          </a:solidFill>
          <a:ln w="12700">
            <a:solidFill>
              <a:srgbClr val="F5A623"/>
            </a:solidFill>
            <a:prstDash val="solid"/>
          </a:ln>
        </p:spPr>
      </p:sp>
      <p:sp>
        <p:nvSpPr>
          <p:cNvPr id="14" name="Text 11"/>
          <p:cNvSpPr txBox="1"/>
          <p:nvPr/>
        </p:nvSpPr>
        <p:spPr>
          <a:xfrm>
            <a:off x="5669280" y="1737360"/>
            <a:ext cx="822960" cy="822960"/>
          </a:xfrm>
          <a:prstGeom prst="rect">
            <a:avLst/>
          </a:prstGeom>
          <a:noFill/>
          <a:ln/>
        </p:spPr>
        <p:txBody>
          <a:bodyPr wrap="square" lIns="0" tIns="0" rIns="0" bIns="0"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2</a:t>
            </a:r>
            <a:endParaRPr lang="en-US" sz="2600" dirty="0"/>
          </a:p>
        </p:txBody>
      </p:sp>
      <p:sp>
        <p:nvSpPr>
          <p:cNvPr id="15" name="Text 12"/>
          <p:cNvSpPr txBox="1"/>
          <p:nvPr/>
        </p:nvSpPr>
        <p:spPr>
          <a:xfrm>
            <a:off x="4617720" y="2697480"/>
            <a:ext cx="2926080" cy="411480"/>
          </a:xfrm>
          <a:prstGeom prst="rect">
            <a:avLst/>
          </a:prstGeom>
          <a:noFill/>
          <a:ln/>
        </p:spPr>
        <p:txBody>
          <a:bodyPr wrap="square" lIns="0" tIns="0" rIns="0" bIns="0" rtlCol="0" anchor="ctr"/>
          <a:lstStyle/>
          <a:p>
            <a:pPr marL="0" indent="0" algn="ctr">
              <a:buNone/>
            </a:pPr>
            <a:r>
              <a:rPr lang="en-US" sz="2200" b="1" dirty="0">
                <a:solidFill>
                  <a:srgbClr val="1B2A49"/>
                </a:solidFill>
                <a:latin typeface="Cambria" pitchFamily="34" charset="0"/>
                <a:ea typeface="Cambria" pitchFamily="34" charset="-122"/>
                <a:cs typeface="Cambria" pitchFamily="34" charset="-120"/>
              </a:rPr>
              <a:t>Directory Entry</a:t>
            </a:r>
            <a:endParaRPr lang="en-US" sz="2200" dirty="0"/>
          </a:p>
        </p:txBody>
      </p:sp>
      <p:sp>
        <p:nvSpPr>
          <p:cNvPr id="16" name="Text 13"/>
          <p:cNvSpPr txBox="1"/>
          <p:nvPr/>
        </p:nvSpPr>
        <p:spPr>
          <a:xfrm>
            <a:off x="4617720" y="3154680"/>
            <a:ext cx="2926080" cy="411480"/>
          </a:xfrm>
          <a:prstGeom prst="rect">
            <a:avLst/>
          </a:prstGeom>
          <a:noFill/>
          <a:ln/>
        </p:spPr>
        <p:txBody>
          <a:bodyPr wrap="square" lIns="0" tIns="0" rIns="0" bIns="0" rtlCol="0" anchor="ctr"/>
          <a:lstStyle/>
          <a:p>
            <a:pPr marL="0" indent="0" algn="ctr">
              <a:buNone/>
            </a:pPr>
            <a:r>
              <a:rPr lang="en-US" sz="1700" b="1" dirty="0">
                <a:solidFill>
                  <a:srgbClr val="B87400"/>
                </a:solidFill>
                <a:latin typeface="Courier New" pitchFamily="34" charset="0"/>
                <a:ea typeface="Courier New" pitchFamily="34" charset="-122"/>
                <a:cs typeface="Courier New" pitchFamily="34" charset="-120"/>
              </a:rPr>
              <a:t>report.txt → 1052</a:t>
            </a:r>
            <a:endParaRPr lang="en-US" sz="1700" dirty="0"/>
          </a:p>
        </p:txBody>
      </p:sp>
      <p:sp>
        <p:nvSpPr>
          <p:cNvPr id="17" name="Text 14"/>
          <p:cNvSpPr txBox="1"/>
          <p:nvPr/>
        </p:nvSpPr>
        <p:spPr>
          <a:xfrm>
            <a:off x="4617720" y="3657600"/>
            <a:ext cx="2926080" cy="365760"/>
          </a:xfrm>
          <a:prstGeom prst="rect">
            <a:avLst/>
          </a:prstGeom>
          <a:noFill/>
          <a:ln/>
        </p:spPr>
        <p:txBody>
          <a:bodyPr wrap="square" lIns="0" tIns="0" rIns="0" bIns="0" rtlCol="0" anchor="ctr"/>
          <a:lstStyle/>
          <a:p>
            <a:pPr marL="0" indent="0" algn="ctr">
              <a:buNone/>
            </a:pPr>
            <a:r>
              <a:rPr lang="en-US" sz="1500" dirty="0">
                <a:solidFill>
                  <a:srgbClr val="5B6B85"/>
                </a:solidFill>
                <a:latin typeface="Calibri" pitchFamily="34" charset="0"/>
                <a:ea typeface="Calibri" pitchFamily="34" charset="-122"/>
                <a:cs typeface="Calibri" pitchFamily="34" charset="-120"/>
              </a:rPr>
              <a:t>The link between them</a:t>
            </a:r>
            <a:endParaRPr lang="en-US" sz="1500" dirty="0"/>
          </a:p>
        </p:txBody>
      </p:sp>
      <p:sp>
        <p:nvSpPr>
          <p:cNvPr id="18" name="Shape 15"/>
          <p:cNvSpPr/>
          <p:nvPr/>
        </p:nvSpPr>
        <p:spPr>
          <a:xfrm>
            <a:off x="7726680" y="2743200"/>
            <a:ext cx="548640" cy="411480"/>
          </a:xfrm>
          <a:prstGeom prst="rightArrow">
            <a:avLst/>
          </a:prstGeom>
          <a:solidFill>
            <a:srgbClr val="F5A623"/>
          </a:solidFill>
          <a:ln w="12700">
            <a:solidFill>
              <a:srgbClr val="F5A623"/>
            </a:solidFill>
            <a:prstDash val="solid"/>
          </a:ln>
        </p:spPr>
      </p:sp>
      <p:sp>
        <p:nvSpPr>
          <p:cNvPr id="19" name="Shape 16"/>
          <p:cNvSpPr/>
          <p:nvPr/>
        </p:nvSpPr>
        <p:spPr>
          <a:xfrm>
            <a:off x="8412480" y="1554480"/>
            <a:ext cx="3108960" cy="2743200"/>
          </a:xfrm>
          <a:prstGeom prst="roundRect">
            <a:avLst>
              <a:gd name="adj" fmla="val 5000"/>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sp>
      <p:sp>
        <p:nvSpPr>
          <p:cNvPr id="20" name="Shape 17"/>
          <p:cNvSpPr/>
          <p:nvPr/>
        </p:nvSpPr>
        <p:spPr>
          <a:xfrm>
            <a:off x="9555480" y="1737360"/>
            <a:ext cx="822960" cy="822960"/>
          </a:xfrm>
          <a:prstGeom prst="ellipse">
            <a:avLst/>
          </a:prstGeom>
          <a:solidFill>
            <a:srgbClr val="1B2A49"/>
          </a:solidFill>
          <a:ln w="12700">
            <a:solidFill>
              <a:srgbClr val="1B2A49"/>
            </a:solidFill>
            <a:prstDash val="solid"/>
          </a:ln>
        </p:spPr>
      </p:sp>
      <p:sp>
        <p:nvSpPr>
          <p:cNvPr id="21" name="Text 18"/>
          <p:cNvSpPr txBox="1"/>
          <p:nvPr/>
        </p:nvSpPr>
        <p:spPr>
          <a:xfrm>
            <a:off x="9555480" y="1737360"/>
            <a:ext cx="822960" cy="822960"/>
          </a:xfrm>
          <a:prstGeom prst="rect">
            <a:avLst/>
          </a:prstGeom>
          <a:noFill/>
          <a:ln/>
        </p:spPr>
        <p:txBody>
          <a:bodyPr wrap="square" lIns="0" tIns="0" rIns="0" bIns="0"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3</a:t>
            </a:r>
            <a:endParaRPr lang="en-US" sz="2600" dirty="0"/>
          </a:p>
        </p:txBody>
      </p:sp>
      <p:sp>
        <p:nvSpPr>
          <p:cNvPr id="22" name="Text 19"/>
          <p:cNvSpPr txBox="1"/>
          <p:nvPr/>
        </p:nvSpPr>
        <p:spPr>
          <a:xfrm>
            <a:off x="8503920" y="2697480"/>
            <a:ext cx="2926080" cy="411480"/>
          </a:xfrm>
          <a:prstGeom prst="rect">
            <a:avLst/>
          </a:prstGeom>
          <a:noFill/>
          <a:ln/>
        </p:spPr>
        <p:txBody>
          <a:bodyPr wrap="square" lIns="0" tIns="0" rIns="0" bIns="0" rtlCol="0" anchor="ctr"/>
          <a:lstStyle/>
          <a:p>
            <a:pPr marL="0" indent="0" algn="ctr">
              <a:buNone/>
            </a:pPr>
            <a:r>
              <a:rPr lang="en-US" sz="2200" b="1" dirty="0">
                <a:solidFill>
                  <a:srgbClr val="1B2A49"/>
                </a:solidFill>
                <a:latin typeface="Cambria" pitchFamily="34" charset="0"/>
                <a:ea typeface="Cambria" pitchFamily="34" charset="-122"/>
                <a:cs typeface="Cambria" pitchFamily="34" charset="-120"/>
              </a:rPr>
              <a:t>Inode</a:t>
            </a:r>
            <a:endParaRPr lang="en-US" sz="2200" dirty="0"/>
          </a:p>
        </p:txBody>
      </p:sp>
      <p:sp>
        <p:nvSpPr>
          <p:cNvPr id="23" name="Text 20"/>
          <p:cNvSpPr txBox="1"/>
          <p:nvPr/>
        </p:nvSpPr>
        <p:spPr>
          <a:xfrm>
            <a:off x="8503920" y="3154680"/>
            <a:ext cx="2926080" cy="411480"/>
          </a:xfrm>
          <a:prstGeom prst="rect">
            <a:avLst/>
          </a:prstGeom>
          <a:noFill/>
          <a:ln/>
        </p:spPr>
        <p:txBody>
          <a:bodyPr wrap="square" lIns="0" tIns="0" rIns="0" bIns="0" rtlCol="0" anchor="ctr"/>
          <a:lstStyle/>
          <a:p>
            <a:pPr marL="0" indent="0" algn="ctr">
              <a:buNone/>
            </a:pPr>
            <a:r>
              <a:rPr lang="en-US" sz="1700" b="1" dirty="0">
                <a:solidFill>
                  <a:srgbClr val="1B2A49"/>
                </a:solidFill>
                <a:latin typeface="Courier New" pitchFamily="34" charset="0"/>
                <a:ea typeface="Courier New" pitchFamily="34" charset="-122"/>
                <a:cs typeface="Courier New" pitchFamily="34" charset="-120"/>
              </a:rPr>
              <a:t>1052</a:t>
            </a:r>
            <a:endParaRPr lang="en-US" sz="1700" dirty="0"/>
          </a:p>
        </p:txBody>
      </p:sp>
      <p:sp>
        <p:nvSpPr>
          <p:cNvPr id="24" name="Text 21"/>
          <p:cNvSpPr txBox="1"/>
          <p:nvPr/>
        </p:nvSpPr>
        <p:spPr>
          <a:xfrm>
            <a:off x="8503920" y="3657600"/>
            <a:ext cx="2926080" cy="365760"/>
          </a:xfrm>
          <a:prstGeom prst="rect">
            <a:avLst/>
          </a:prstGeom>
          <a:noFill/>
          <a:ln/>
        </p:spPr>
        <p:txBody>
          <a:bodyPr wrap="square" lIns="0" tIns="0" rIns="0" bIns="0" rtlCol="0" anchor="ctr"/>
          <a:lstStyle/>
          <a:p>
            <a:pPr marL="0" indent="0" algn="ctr">
              <a:buNone/>
            </a:pPr>
            <a:r>
              <a:rPr lang="en-US" sz="1500" dirty="0">
                <a:solidFill>
                  <a:srgbClr val="5B6B85"/>
                </a:solidFill>
                <a:latin typeface="Calibri" pitchFamily="34" charset="0"/>
                <a:ea typeface="Calibri" pitchFamily="34" charset="-122"/>
                <a:cs typeface="Calibri" pitchFamily="34" charset="-120"/>
              </a:rPr>
              <a:t>Metadata + data locations</a:t>
            </a:r>
            <a:endParaRPr lang="en-US" sz="1500" dirty="0"/>
          </a:p>
        </p:txBody>
      </p:sp>
      <p:sp>
        <p:nvSpPr>
          <p:cNvPr id="25" name="Shape 22"/>
          <p:cNvSpPr/>
          <p:nvPr/>
        </p:nvSpPr>
        <p:spPr>
          <a:xfrm>
            <a:off x="640080" y="4663440"/>
            <a:ext cx="10927080" cy="1280160"/>
          </a:xfrm>
          <a:prstGeom prst="roundRect">
            <a:avLst>
              <a:gd name="adj" fmla="val 10714"/>
            </a:avLst>
          </a:prstGeom>
          <a:solidFill>
            <a:srgbClr val="1B2A49"/>
          </a:solidFill>
          <a:ln w="12700">
            <a:solidFill>
              <a:srgbClr val="1B2A49"/>
            </a:solidFill>
            <a:prstDash val="solid"/>
          </a:ln>
          <a:effectLst>
            <a:outerShdw blurRad="101600" dist="25400" dir="5400000" algn="bl" rotWithShape="0">
              <a:srgbClr val="000000">
                <a:alpha val="12000"/>
              </a:srgbClr>
            </a:outerShdw>
          </a:effectLst>
        </p:spPr>
      </p:sp>
      <p:sp>
        <p:nvSpPr>
          <p:cNvPr id="26" name="Text 23"/>
          <p:cNvSpPr txBox="1"/>
          <p:nvPr/>
        </p:nvSpPr>
        <p:spPr>
          <a:xfrm>
            <a:off x="1005840" y="4663440"/>
            <a:ext cx="10241280" cy="1280160"/>
          </a:xfrm>
          <a:prstGeom prst="rect">
            <a:avLst/>
          </a:prstGeom>
          <a:noFill/>
          <a:ln/>
        </p:spPr>
        <p:txBody>
          <a:bodyPr wrap="square" lIns="0" tIns="0" rIns="0" bIns="0" rtlCol="0" anchor="ctr"/>
          <a:lstStyle/>
          <a:p>
            <a:pPr marL="0" indent="0">
              <a:buNone/>
            </a:pPr>
            <a:r>
              <a:rPr lang="en-US" sz="2100" b="1" dirty="0">
                <a:solidFill>
                  <a:srgbClr val="F5A623"/>
                </a:solidFill>
                <a:latin typeface="Calibri" pitchFamily="34" charset="0"/>
                <a:ea typeface="Calibri" pitchFamily="34" charset="-122"/>
                <a:cs typeface="Calibri" pitchFamily="34" charset="-120"/>
              </a:rPr>
              <a:t>Easy idea: </a:t>
            </a:r>
            <a:r>
              <a:rPr lang="en-US" sz="2100" dirty="0">
                <a:solidFill>
                  <a:srgbClr val="FFFFFF"/>
                </a:solidFill>
                <a:latin typeface="Calibri" pitchFamily="34" charset="0"/>
                <a:ea typeface="Calibri" pitchFamily="34" charset="-122"/>
                <a:cs typeface="Calibri" pitchFamily="34" charset="-120"/>
              </a:rPr>
              <a:t>the file name is what we see; the inode is what Linux uses. The directory entry is the bridge between the two.</a:t>
            </a:r>
            <a:endParaRPr lang="en-US" sz="2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F2F6FB"/>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marL="0" indent="0">
              <a:buNone/>
            </a:pPr>
            <a:r>
              <a:rPr lang="en-US" sz="3400" b="1" dirty="0">
                <a:solidFill>
                  <a:srgbClr val="1B2A49"/>
                </a:solidFill>
                <a:latin typeface="Cambria" pitchFamily="34" charset="0"/>
                <a:ea typeface="Cambria" pitchFamily="34" charset="-122"/>
                <a:cs typeface="Cambria" pitchFamily="34" charset="-120"/>
              </a:rPr>
              <a:t>What Does an Inode Store?</a:t>
            </a:r>
            <a:endParaRPr lang="en-US" sz="3400" dirty="0"/>
          </a:p>
        </p:txBody>
      </p:sp>
      <p:sp>
        <p:nvSpPr>
          <p:cNvPr id="3" name="Text 1"/>
          <p:cNvSpPr txBox="1"/>
          <p:nvPr/>
        </p:nvSpPr>
        <p:spPr>
          <a:xfrm>
            <a:off x="10698480" y="6400800"/>
            <a:ext cx="914400" cy="274320"/>
          </a:xfrm>
          <a:prstGeom prst="rect">
            <a:avLst/>
          </a:prstGeom>
          <a:noFill/>
          <a:ln/>
        </p:spPr>
        <p:txBody>
          <a:bodyPr wrap="square" lIns="0" tIns="0" rIns="0" bIns="0" rtlCol="0" anchor="ctr"/>
          <a:lstStyle/>
          <a:p>
            <a:pPr marL="0" indent="0" algn="r">
              <a:buNone/>
            </a:pPr>
            <a:r>
              <a:rPr lang="en-US" sz="1100" dirty="0">
                <a:solidFill>
                  <a:srgbClr val="5B6B85"/>
                </a:solidFill>
                <a:latin typeface="Calibri" pitchFamily="34" charset="0"/>
                <a:ea typeface="Calibri" pitchFamily="34" charset="-122"/>
                <a:cs typeface="Calibri" pitchFamily="34" charset="-120"/>
              </a:rPr>
              <a:t>5 / 12</a:t>
            </a:r>
            <a:endParaRPr lang="en-US" sz="1100" dirty="0"/>
          </a:p>
        </p:txBody>
      </p:sp>
      <p:sp>
        <p:nvSpPr>
          <p:cNvPr id="5" name="Shape 2"/>
          <p:cNvSpPr/>
          <p:nvPr/>
        </p:nvSpPr>
        <p:spPr>
          <a:xfrm>
            <a:off x="548640" y="1463040"/>
            <a:ext cx="3566160" cy="1783080"/>
          </a:xfrm>
          <a:prstGeom prst="roundRect">
            <a:avLst>
              <a:gd name="adj" fmla="val 7692"/>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sp>
      <p:sp>
        <p:nvSpPr>
          <p:cNvPr id="6" name="Shape 3"/>
          <p:cNvSpPr/>
          <p:nvPr/>
        </p:nvSpPr>
        <p:spPr>
          <a:xfrm>
            <a:off x="777240" y="1691640"/>
            <a:ext cx="640080" cy="640080"/>
          </a:xfrm>
          <a:prstGeom prst="ellipse">
            <a:avLst/>
          </a:prstGeom>
          <a:solidFill>
            <a:srgbClr val="1FA6A0"/>
          </a:solidFill>
          <a:ln w="12700">
            <a:solidFill>
              <a:srgbClr val="1FA6A0"/>
            </a:solidFill>
            <a:prstDash val="solid"/>
          </a:ln>
        </p:spPr>
      </p:sp>
      <p:sp>
        <p:nvSpPr>
          <p:cNvPr id="7" name="Text 4"/>
          <p:cNvSpPr txBox="1"/>
          <p:nvPr/>
        </p:nvSpPr>
        <p:spPr>
          <a:xfrm>
            <a:off x="777240" y="1691640"/>
            <a:ext cx="640080" cy="64008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8" name="Text 5"/>
          <p:cNvSpPr txBox="1"/>
          <p:nvPr/>
        </p:nvSpPr>
        <p:spPr>
          <a:xfrm>
            <a:off x="1554480" y="1691640"/>
            <a:ext cx="2468880" cy="640080"/>
          </a:xfrm>
          <a:prstGeom prst="rect">
            <a:avLst/>
          </a:prstGeom>
          <a:noFill/>
          <a:ln/>
        </p:spPr>
        <p:txBody>
          <a:bodyPr wrap="square" lIns="0" tIns="0" rIns="0" bIns="0" rtlCol="0" anchor="ctr"/>
          <a:lstStyle/>
          <a:p>
            <a:pPr marL="0" indent="0">
              <a:buNone/>
            </a:pPr>
            <a:r>
              <a:rPr lang="en-US" sz="2100" b="1" dirty="0">
                <a:solidFill>
                  <a:srgbClr val="1B2A49"/>
                </a:solidFill>
                <a:latin typeface="Cambria" pitchFamily="34" charset="0"/>
                <a:ea typeface="Cambria" pitchFamily="34" charset="-122"/>
                <a:cs typeface="Cambria" pitchFamily="34" charset="-120"/>
              </a:rPr>
              <a:t>Owner</a:t>
            </a:r>
            <a:endParaRPr lang="en-US" sz="2100" dirty="0"/>
          </a:p>
        </p:txBody>
      </p:sp>
      <p:sp>
        <p:nvSpPr>
          <p:cNvPr id="9" name="Text 6"/>
          <p:cNvSpPr txBox="1"/>
          <p:nvPr/>
        </p:nvSpPr>
        <p:spPr>
          <a:xfrm>
            <a:off x="777240" y="2468880"/>
            <a:ext cx="3154680" cy="640080"/>
          </a:xfrm>
          <a:prstGeom prst="rect">
            <a:avLst/>
          </a:prstGeom>
          <a:noFill/>
          <a:ln/>
        </p:spPr>
        <p:txBody>
          <a:bodyPr wrap="square" lIns="0" tIns="0" rIns="0" bIns="0" rtlCol="0" anchor="t"/>
          <a:lstStyle/>
          <a:p>
            <a:pPr marL="0" indent="0">
              <a:buNone/>
            </a:pPr>
            <a:r>
              <a:rPr lang="en-US" sz="1500" dirty="0">
                <a:solidFill>
                  <a:srgbClr val="22304A"/>
                </a:solidFill>
                <a:latin typeface="Calibri" pitchFamily="34" charset="0"/>
                <a:ea typeface="Calibri" pitchFamily="34" charset="-122"/>
                <a:cs typeface="Calibri" pitchFamily="34" charset="-120"/>
              </a:rPr>
              <a:t>Which user and group own the file</a:t>
            </a:r>
            <a:endParaRPr lang="en-US" sz="1500" dirty="0"/>
          </a:p>
        </p:txBody>
      </p:sp>
      <p:sp>
        <p:nvSpPr>
          <p:cNvPr id="10" name="Shape 7"/>
          <p:cNvSpPr/>
          <p:nvPr/>
        </p:nvSpPr>
        <p:spPr>
          <a:xfrm>
            <a:off x="4343400" y="1463040"/>
            <a:ext cx="3566160" cy="1783080"/>
          </a:xfrm>
          <a:prstGeom prst="roundRect">
            <a:avLst>
              <a:gd name="adj" fmla="val 7692"/>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sp>
      <p:sp>
        <p:nvSpPr>
          <p:cNvPr id="11" name="Shape 8"/>
          <p:cNvSpPr/>
          <p:nvPr/>
        </p:nvSpPr>
        <p:spPr>
          <a:xfrm>
            <a:off x="4572000" y="1691640"/>
            <a:ext cx="640080" cy="640080"/>
          </a:xfrm>
          <a:prstGeom prst="ellipse">
            <a:avLst/>
          </a:prstGeom>
          <a:solidFill>
            <a:srgbClr val="1B2A49"/>
          </a:solidFill>
          <a:ln w="12700">
            <a:solidFill>
              <a:srgbClr val="1B2A49"/>
            </a:solidFill>
            <a:prstDash val="solid"/>
          </a:ln>
        </p:spPr>
      </p:sp>
      <p:sp>
        <p:nvSpPr>
          <p:cNvPr id="12" name="Text 9"/>
          <p:cNvSpPr txBox="1"/>
          <p:nvPr/>
        </p:nvSpPr>
        <p:spPr>
          <a:xfrm>
            <a:off x="4572000" y="1691640"/>
            <a:ext cx="640080" cy="64008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3" name="Text 10"/>
          <p:cNvSpPr txBox="1"/>
          <p:nvPr/>
        </p:nvSpPr>
        <p:spPr>
          <a:xfrm>
            <a:off x="5349240" y="1691640"/>
            <a:ext cx="2468880" cy="640080"/>
          </a:xfrm>
          <a:prstGeom prst="rect">
            <a:avLst/>
          </a:prstGeom>
          <a:noFill/>
          <a:ln/>
        </p:spPr>
        <p:txBody>
          <a:bodyPr wrap="square" lIns="0" tIns="0" rIns="0" bIns="0" rtlCol="0" anchor="ctr"/>
          <a:lstStyle/>
          <a:p>
            <a:pPr marL="0" indent="0">
              <a:buNone/>
            </a:pPr>
            <a:r>
              <a:rPr lang="en-US" sz="2100" b="1" dirty="0">
                <a:solidFill>
                  <a:srgbClr val="1B2A49"/>
                </a:solidFill>
                <a:latin typeface="Cambria" pitchFamily="34" charset="0"/>
                <a:ea typeface="Cambria" pitchFamily="34" charset="-122"/>
                <a:cs typeface="Cambria" pitchFamily="34" charset="-120"/>
              </a:rPr>
              <a:t>Permissions</a:t>
            </a:r>
            <a:endParaRPr lang="en-US" sz="2100" dirty="0"/>
          </a:p>
        </p:txBody>
      </p:sp>
      <p:sp>
        <p:nvSpPr>
          <p:cNvPr id="14" name="Text 11"/>
          <p:cNvSpPr txBox="1"/>
          <p:nvPr/>
        </p:nvSpPr>
        <p:spPr>
          <a:xfrm>
            <a:off x="4572000" y="2468880"/>
            <a:ext cx="3154680" cy="640080"/>
          </a:xfrm>
          <a:prstGeom prst="rect">
            <a:avLst/>
          </a:prstGeom>
          <a:noFill/>
          <a:ln/>
        </p:spPr>
        <p:txBody>
          <a:bodyPr wrap="square" lIns="0" tIns="0" rIns="0" bIns="0" rtlCol="0" anchor="t"/>
          <a:lstStyle/>
          <a:p>
            <a:pPr marL="0" indent="0">
              <a:buNone/>
            </a:pPr>
            <a:r>
              <a:rPr lang="en-US" sz="1500" dirty="0">
                <a:solidFill>
                  <a:srgbClr val="22304A"/>
                </a:solidFill>
                <a:latin typeface="Calibri" pitchFamily="34" charset="0"/>
                <a:ea typeface="Calibri" pitchFamily="34" charset="-122"/>
                <a:cs typeface="Calibri" pitchFamily="34" charset="-120"/>
              </a:rPr>
              <a:t>Who can read, write or run it</a:t>
            </a:r>
            <a:endParaRPr lang="en-US" sz="1500" dirty="0"/>
          </a:p>
        </p:txBody>
      </p:sp>
      <p:sp>
        <p:nvSpPr>
          <p:cNvPr id="15" name="Shape 12"/>
          <p:cNvSpPr/>
          <p:nvPr/>
        </p:nvSpPr>
        <p:spPr>
          <a:xfrm>
            <a:off x="8138160" y="1463040"/>
            <a:ext cx="3566160" cy="1783080"/>
          </a:xfrm>
          <a:prstGeom prst="roundRect">
            <a:avLst>
              <a:gd name="adj" fmla="val 7692"/>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sp>
      <p:sp>
        <p:nvSpPr>
          <p:cNvPr id="16" name="Shape 13"/>
          <p:cNvSpPr/>
          <p:nvPr/>
        </p:nvSpPr>
        <p:spPr>
          <a:xfrm>
            <a:off x="8366760" y="1691640"/>
            <a:ext cx="640080" cy="640080"/>
          </a:xfrm>
          <a:prstGeom prst="ellipse">
            <a:avLst/>
          </a:prstGeom>
          <a:solidFill>
            <a:srgbClr val="F5A623"/>
          </a:solidFill>
          <a:ln w="12700">
            <a:solidFill>
              <a:srgbClr val="F5A623"/>
            </a:solidFill>
            <a:prstDash val="solid"/>
          </a:ln>
        </p:spPr>
      </p:sp>
      <p:sp>
        <p:nvSpPr>
          <p:cNvPr id="17" name="Text 14"/>
          <p:cNvSpPr txBox="1"/>
          <p:nvPr/>
        </p:nvSpPr>
        <p:spPr>
          <a:xfrm>
            <a:off x="8366760" y="1691640"/>
            <a:ext cx="640080" cy="64008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8" name="Text 15"/>
          <p:cNvSpPr txBox="1"/>
          <p:nvPr/>
        </p:nvSpPr>
        <p:spPr>
          <a:xfrm>
            <a:off x="9144000" y="1691640"/>
            <a:ext cx="2468880" cy="640080"/>
          </a:xfrm>
          <a:prstGeom prst="rect">
            <a:avLst/>
          </a:prstGeom>
          <a:noFill/>
          <a:ln/>
        </p:spPr>
        <p:txBody>
          <a:bodyPr wrap="square" lIns="0" tIns="0" rIns="0" bIns="0" rtlCol="0" anchor="ctr"/>
          <a:lstStyle/>
          <a:p>
            <a:pPr marL="0" indent="0">
              <a:buNone/>
            </a:pPr>
            <a:r>
              <a:rPr lang="en-US" sz="2100" b="1" dirty="0">
                <a:solidFill>
                  <a:srgbClr val="1B2A49"/>
                </a:solidFill>
                <a:latin typeface="Cambria" pitchFamily="34" charset="0"/>
                <a:ea typeface="Cambria" pitchFamily="34" charset="-122"/>
                <a:cs typeface="Cambria" pitchFamily="34" charset="-120"/>
              </a:rPr>
              <a:t>Size</a:t>
            </a:r>
            <a:endParaRPr lang="en-US" sz="2100" dirty="0"/>
          </a:p>
        </p:txBody>
      </p:sp>
      <p:sp>
        <p:nvSpPr>
          <p:cNvPr id="19" name="Text 16"/>
          <p:cNvSpPr txBox="1"/>
          <p:nvPr/>
        </p:nvSpPr>
        <p:spPr>
          <a:xfrm>
            <a:off x="8366760" y="2468880"/>
            <a:ext cx="3154680" cy="640080"/>
          </a:xfrm>
          <a:prstGeom prst="rect">
            <a:avLst/>
          </a:prstGeom>
          <a:noFill/>
          <a:ln/>
        </p:spPr>
        <p:txBody>
          <a:bodyPr wrap="square" lIns="0" tIns="0" rIns="0" bIns="0" rtlCol="0" anchor="t"/>
          <a:lstStyle/>
          <a:p>
            <a:pPr marL="0" indent="0">
              <a:buNone/>
            </a:pPr>
            <a:r>
              <a:rPr lang="en-US" sz="1500" dirty="0">
                <a:solidFill>
                  <a:srgbClr val="22304A"/>
                </a:solidFill>
                <a:latin typeface="Calibri" pitchFamily="34" charset="0"/>
                <a:ea typeface="Calibri" pitchFamily="34" charset="-122"/>
                <a:cs typeface="Calibri" pitchFamily="34" charset="-120"/>
              </a:rPr>
              <a:t>How many bytes the file has</a:t>
            </a:r>
            <a:endParaRPr lang="en-US" sz="1500" dirty="0"/>
          </a:p>
        </p:txBody>
      </p:sp>
      <p:sp>
        <p:nvSpPr>
          <p:cNvPr id="20" name="Shape 17"/>
          <p:cNvSpPr/>
          <p:nvPr/>
        </p:nvSpPr>
        <p:spPr>
          <a:xfrm>
            <a:off x="548640" y="3520440"/>
            <a:ext cx="3566160" cy="1783080"/>
          </a:xfrm>
          <a:prstGeom prst="roundRect">
            <a:avLst>
              <a:gd name="adj" fmla="val 7692"/>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sp>
      <p:sp>
        <p:nvSpPr>
          <p:cNvPr id="21" name="Shape 18"/>
          <p:cNvSpPr/>
          <p:nvPr/>
        </p:nvSpPr>
        <p:spPr>
          <a:xfrm>
            <a:off x="777240" y="3749040"/>
            <a:ext cx="640080" cy="640080"/>
          </a:xfrm>
          <a:prstGeom prst="ellipse">
            <a:avLst/>
          </a:prstGeom>
          <a:solidFill>
            <a:srgbClr val="2E9E6A"/>
          </a:solidFill>
          <a:ln w="12700">
            <a:solidFill>
              <a:srgbClr val="2E9E6A"/>
            </a:solidFill>
            <a:prstDash val="solid"/>
          </a:ln>
        </p:spPr>
      </p:sp>
      <p:sp>
        <p:nvSpPr>
          <p:cNvPr id="22" name="Text 19"/>
          <p:cNvSpPr txBox="1"/>
          <p:nvPr/>
        </p:nvSpPr>
        <p:spPr>
          <a:xfrm>
            <a:off x="777240" y="3749040"/>
            <a:ext cx="640080" cy="64008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23" name="Text 20"/>
          <p:cNvSpPr txBox="1"/>
          <p:nvPr/>
        </p:nvSpPr>
        <p:spPr>
          <a:xfrm>
            <a:off x="1554480" y="3749040"/>
            <a:ext cx="2468880" cy="640080"/>
          </a:xfrm>
          <a:prstGeom prst="rect">
            <a:avLst/>
          </a:prstGeom>
          <a:noFill/>
          <a:ln/>
        </p:spPr>
        <p:txBody>
          <a:bodyPr wrap="square" lIns="0" tIns="0" rIns="0" bIns="0" rtlCol="0" anchor="ctr"/>
          <a:lstStyle/>
          <a:p>
            <a:pPr marL="0" indent="0">
              <a:buNone/>
            </a:pPr>
            <a:r>
              <a:rPr lang="en-US" sz="2100" b="1" dirty="0">
                <a:solidFill>
                  <a:srgbClr val="1B2A49"/>
                </a:solidFill>
                <a:latin typeface="Cambria" pitchFamily="34" charset="0"/>
                <a:ea typeface="Cambria" pitchFamily="34" charset="-122"/>
                <a:cs typeface="Cambria" pitchFamily="34" charset="-120"/>
              </a:rPr>
              <a:t>Timestamps</a:t>
            </a:r>
            <a:endParaRPr lang="en-US" sz="2100" dirty="0"/>
          </a:p>
        </p:txBody>
      </p:sp>
      <p:sp>
        <p:nvSpPr>
          <p:cNvPr id="24" name="Text 21"/>
          <p:cNvSpPr txBox="1"/>
          <p:nvPr/>
        </p:nvSpPr>
        <p:spPr>
          <a:xfrm>
            <a:off x="777240" y="4526280"/>
            <a:ext cx="3154680" cy="640080"/>
          </a:xfrm>
          <a:prstGeom prst="rect">
            <a:avLst/>
          </a:prstGeom>
          <a:noFill/>
          <a:ln/>
        </p:spPr>
        <p:txBody>
          <a:bodyPr wrap="square" lIns="0" tIns="0" rIns="0" bIns="0" rtlCol="0" anchor="t"/>
          <a:lstStyle/>
          <a:p>
            <a:pPr marL="0" indent="0">
              <a:buNone/>
            </a:pPr>
            <a:r>
              <a:rPr lang="en-US" sz="1500" dirty="0">
                <a:solidFill>
                  <a:srgbClr val="22304A"/>
                </a:solidFill>
                <a:latin typeface="Calibri" pitchFamily="34" charset="0"/>
                <a:ea typeface="Calibri" pitchFamily="34" charset="-122"/>
                <a:cs typeface="Calibri" pitchFamily="34" charset="-120"/>
              </a:rPr>
              <a:t>Created, modified, accessed times</a:t>
            </a:r>
            <a:endParaRPr lang="en-US" sz="1500" dirty="0"/>
          </a:p>
        </p:txBody>
      </p:sp>
      <p:sp>
        <p:nvSpPr>
          <p:cNvPr id="25" name="Shape 22"/>
          <p:cNvSpPr/>
          <p:nvPr/>
        </p:nvSpPr>
        <p:spPr>
          <a:xfrm>
            <a:off x="4343400" y="3520440"/>
            <a:ext cx="3566160" cy="1783080"/>
          </a:xfrm>
          <a:prstGeom prst="roundRect">
            <a:avLst>
              <a:gd name="adj" fmla="val 7692"/>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sp>
      <p:sp>
        <p:nvSpPr>
          <p:cNvPr id="26" name="Shape 23"/>
          <p:cNvSpPr/>
          <p:nvPr/>
        </p:nvSpPr>
        <p:spPr>
          <a:xfrm>
            <a:off x="4572000" y="3749040"/>
            <a:ext cx="640080" cy="640080"/>
          </a:xfrm>
          <a:prstGeom prst="ellipse">
            <a:avLst/>
          </a:prstGeom>
          <a:solidFill>
            <a:srgbClr val="1FA6A0"/>
          </a:solidFill>
          <a:ln w="12700">
            <a:solidFill>
              <a:srgbClr val="1FA6A0"/>
            </a:solidFill>
            <a:prstDash val="solid"/>
          </a:ln>
        </p:spPr>
      </p:sp>
      <p:sp>
        <p:nvSpPr>
          <p:cNvPr id="27" name="Text 24"/>
          <p:cNvSpPr txBox="1"/>
          <p:nvPr/>
        </p:nvSpPr>
        <p:spPr>
          <a:xfrm>
            <a:off x="4572000" y="3749040"/>
            <a:ext cx="640080" cy="64008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5</a:t>
            </a:r>
            <a:endParaRPr lang="en-US" sz="2000" dirty="0"/>
          </a:p>
        </p:txBody>
      </p:sp>
      <p:sp>
        <p:nvSpPr>
          <p:cNvPr id="28" name="Text 25"/>
          <p:cNvSpPr txBox="1"/>
          <p:nvPr/>
        </p:nvSpPr>
        <p:spPr>
          <a:xfrm>
            <a:off x="5349240" y="3749040"/>
            <a:ext cx="2468880" cy="640080"/>
          </a:xfrm>
          <a:prstGeom prst="rect">
            <a:avLst/>
          </a:prstGeom>
          <a:noFill/>
          <a:ln/>
        </p:spPr>
        <p:txBody>
          <a:bodyPr wrap="square" lIns="0" tIns="0" rIns="0" bIns="0" rtlCol="0" anchor="ctr"/>
          <a:lstStyle/>
          <a:p>
            <a:pPr marL="0" indent="0">
              <a:buNone/>
            </a:pPr>
            <a:r>
              <a:rPr lang="en-US" sz="2100" b="1" dirty="0">
                <a:solidFill>
                  <a:srgbClr val="1B2A49"/>
                </a:solidFill>
                <a:latin typeface="Cambria" pitchFamily="34" charset="0"/>
                <a:ea typeface="Cambria" pitchFamily="34" charset="-122"/>
                <a:cs typeface="Cambria" pitchFamily="34" charset="-120"/>
              </a:rPr>
              <a:t>Data locations</a:t>
            </a:r>
            <a:endParaRPr lang="en-US" sz="2100" dirty="0"/>
          </a:p>
        </p:txBody>
      </p:sp>
      <p:sp>
        <p:nvSpPr>
          <p:cNvPr id="29" name="Text 26"/>
          <p:cNvSpPr txBox="1"/>
          <p:nvPr/>
        </p:nvSpPr>
        <p:spPr>
          <a:xfrm>
            <a:off x="4572000" y="4526280"/>
            <a:ext cx="3154680" cy="640080"/>
          </a:xfrm>
          <a:prstGeom prst="rect">
            <a:avLst/>
          </a:prstGeom>
          <a:noFill/>
          <a:ln/>
        </p:spPr>
        <p:txBody>
          <a:bodyPr wrap="square" lIns="0" tIns="0" rIns="0" bIns="0" rtlCol="0" anchor="t"/>
          <a:lstStyle/>
          <a:p>
            <a:pPr marL="0" indent="0">
              <a:buNone/>
            </a:pPr>
            <a:r>
              <a:rPr lang="en-US" sz="1500" dirty="0">
                <a:solidFill>
                  <a:srgbClr val="22304A"/>
                </a:solidFill>
                <a:latin typeface="Calibri" pitchFamily="34" charset="0"/>
                <a:ea typeface="Calibri" pitchFamily="34" charset="-122"/>
                <a:cs typeface="Calibri" pitchFamily="34" charset="-120"/>
              </a:rPr>
              <a:t>Which disk blocks hold the content</a:t>
            </a:r>
            <a:endParaRPr lang="en-US" sz="1500" dirty="0"/>
          </a:p>
        </p:txBody>
      </p:sp>
      <p:sp>
        <p:nvSpPr>
          <p:cNvPr id="30" name="Shape 27"/>
          <p:cNvSpPr/>
          <p:nvPr/>
        </p:nvSpPr>
        <p:spPr>
          <a:xfrm>
            <a:off x="8138160" y="3520440"/>
            <a:ext cx="3566160" cy="1783080"/>
          </a:xfrm>
          <a:prstGeom prst="roundRect">
            <a:avLst>
              <a:gd name="adj" fmla="val 7692"/>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sp>
      <p:sp>
        <p:nvSpPr>
          <p:cNvPr id="31" name="Shape 28"/>
          <p:cNvSpPr/>
          <p:nvPr/>
        </p:nvSpPr>
        <p:spPr>
          <a:xfrm>
            <a:off x="8366760" y="3749040"/>
            <a:ext cx="640080" cy="640080"/>
          </a:xfrm>
          <a:prstGeom prst="ellipse">
            <a:avLst/>
          </a:prstGeom>
          <a:solidFill>
            <a:srgbClr val="1B2A49"/>
          </a:solidFill>
          <a:ln w="12700">
            <a:solidFill>
              <a:srgbClr val="1B2A49"/>
            </a:solidFill>
            <a:prstDash val="solid"/>
          </a:ln>
        </p:spPr>
      </p:sp>
      <p:sp>
        <p:nvSpPr>
          <p:cNvPr id="32" name="Text 29"/>
          <p:cNvSpPr txBox="1"/>
          <p:nvPr/>
        </p:nvSpPr>
        <p:spPr>
          <a:xfrm>
            <a:off x="8366760" y="3749040"/>
            <a:ext cx="640080" cy="64008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6</a:t>
            </a:r>
            <a:endParaRPr lang="en-US" sz="2000" dirty="0"/>
          </a:p>
        </p:txBody>
      </p:sp>
      <p:sp>
        <p:nvSpPr>
          <p:cNvPr id="33" name="Text 30"/>
          <p:cNvSpPr txBox="1"/>
          <p:nvPr/>
        </p:nvSpPr>
        <p:spPr>
          <a:xfrm>
            <a:off x="9144000" y="3749040"/>
            <a:ext cx="2468880" cy="640080"/>
          </a:xfrm>
          <a:prstGeom prst="rect">
            <a:avLst/>
          </a:prstGeom>
          <a:noFill/>
          <a:ln/>
        </p:spPr>
        <p:txBody>
          <a:bodyPr wrap="square" lIns="0" tIns="0" rIns="0" bIns="0" rtlCol="0" anchor="ctr"/>
          <a:lstStyle/>
          <a:p>
            <a:pPr marL="0" indent="0">
              <a:buNone/>
            </a:pPr>
            <a:r>
              <a:rPr lang="en-US" sz="2100" b="1" dirty="0">
                <a:solidFill>
                  <a:srgbClr val="1B2A49"/>
                </a:solidFill>
                <a:latin typeface="Cambria" pitchFamily="34" charset="0"/>
                <a:ea typeface="Cambria" pitchFamily="34" charset="-122"/>
                <a:cs typeface="Cambria" pitchFamily="34" charset="-120"/>
              </a:rPr>
              <a:t>Link count</a:t>
            </a:r>
            <a:endParaRPr lang="en-US" sz="2100" dirty="0"/>
          </a:p>
        </p:txBody>
      </p:sp>
      <p:sp>
        <p:nvSpPr>
          <p:cNvPr id="34" name="Text 31"/>
          <p:cNvSpPr txBox="1"/>
          <p:nvPr/>
        </p:nvSpPr>
        <p:spPr>
          <a:xfrm>
            <a:off x="8366760" y="4526280"/>
            <a:ext cx="3154680" cy="640080"/>
          </a:xfrm>
          <a:prstGeom prst="rect">
            <a:avLst/>
          </a:prstGeom>
          <a:noFill/>
          <a:ln/>
        </p:spPr>
        <p:txBody>
          <a:bodyPr wrap="square" lIns="0" tIns="0" rIns="0" bIns="0" rtlCol="0" anchor="t"/>
          <a:lstStyle/>
          <a:p>
            <a:pPr marL="0" indent="0">
              <a:buNone/>
            </a:pPr>
            <a:r>
              <a:rPr lang="en-US" sz="1500" dirty="0">
                <a:solidFill>
                  <a:srgbClr val="22304A"/>
                </a:solidFill>
                <a:latin typeface="Calibri" pitchFamily="34" charset="0"/>
                <a:ea typeface="Calibri" pitchFamily="34" charset="-122"/>
                <a:cs typeface="Calibri" pitchFamily="34" charset="-120"/>
              </a:rPr>
              <a:t>How many names point to it</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F2F6FB"/>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marL="0" indent="0">
              <a:buNone/>
            </a:pPr>
            <a:r>
              <a:rPr lang="en-US" sz="3400" b="1" dirty="0">
                <a:solidFill>
                  <a:srgbClr val="1B2A49"/>
                </a:solidFill>
                <a:latin typeface="Cambria" pitchFamily="34" charset="0"/>
                <a:ea typeface="Cambria" pitchFamily="34" charset="-122"/>
                <a:cs typeface="Cambria" pitchFamily="34" charset="-120"/>
              </a:rPr>
              <a:t>File Naming Rules in Linux</a:t>
            </a:r>
            <a:endParaRPr lang="en-US" sz="3400" dirty="0"/>
          </a:p>
        </p:txBody>
      </p:sp>
      <p:sp>
        <p:nvSpPr>
          <p:cNvPr id="3" name="Text 1"/>
          <p:cNvSpPr txBox="1"/>
          <p:nvPr/>
        </p:nvSpPr>
        <p:spPr>
          <a:xfrm>
            <a:off x="10698480" y="6400800"/>
            <a:ext cx="914400" cy="274320"/>
          </a:xfrm>
          <a:prstGeom prst="rect">
            <a:avLst/>
          </a:prstGeom>
          <a:noFill/>
          <a:ln/>
        </p:spPr>
        <p:txBody>
          <a:bodyPr wrap="square" lIns="0" tIns="0" rIns="0" bIns="0" rtlCol="0" anchor="ctr"/>
          <a:lstStyle/>
          <a:p>
            <a:pPr marL="0" indent="0" algn="r">
              <a:buNone/>
            </a:pPr>
            <a:r>
              <a:rPr lang="en-US" sz="1100" dirty="0">
                <a:solidFill>
                  <a:srgbClr val="5B6B85"/>
                </a:solidFill>
                <a:latin typeface="Calibri" pitchFamily="34" charset="0"/>
                <a:ea typeface="Calibri" pitchFamily="34" charset="-122"/>
                <a:cs typeface="Calibri" pitchFamily="34" charset="-120"/>
              </a:rPr>
              <a:t>6 / 12</a:t>
            </a:r>
            <a:endParaRPr lang="en-US" sz="1100" dirty="0"/>
          </a:p>
        </p:txBody>
      </p:sp>
      <p:sp>
        <p:nvSpPr>
          <p:cNvPr id="5" name="Shape 2"/>
          <p:cNvSpPr/>
          <p:nvPr/>
        </p:nvSpPr>
        <p:spPr>
          <a:xfrm>
            <a:off x="548640" y="1371600"/>
            <a:ext cx="5394960" cy="3840480"/>
          </a:xfrm>
          <a:prstGeom prst="roundRect">
            <a:avLst>
              <a:gd name="adj" fmla="val 3571"/>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sp>
      <p:sp>
        <p:nvSpPr>
          <p:cNvPr id="6" name="Text 3"/>
          <p:cNvSpPr txBox="1"/>
          <p:nvPr/>
        </p:nvSpPr>
        <p:spPr>
          <a:xfrm>
            <a:off x="822960" y="1508760"/>
            <a:ext cx="4572000" cy="457200"/>
          </a:xfrm>
          <a:prstGeom prst="rect">
            <a:avLst/>
          </a:prstGeom>
          <a:noFill/>
          <a:ln/>
        </p:spPr>
        <p:txBody>
          <a:bodyPr wrap="square" lIns="0" tIns="0" rIns="0" bIns="0" rtlCol="0" anchor="ctr"/>
          <a:lstStyle/>
          <a:p>
            <a:pPr marL="0" indent="0">
              <a:buNone/>
            </a:pPr>
            <a:r>
              <a:rPr lang="en-US" sz="2400" b="1" dirty="0">
                <a:solidFill>
                  <a:srgbClr val="1B2A49"/>
                </a:solidFill>
                <a:latin typeface="Cambria" pitchFamily="34" charset="0"/>
                <a:ea typeface="Cambria" pitchFamily="34" charset="-122"/>
                <a:cs typeface="Cambria" pitchFamily="34" charset="-120"/>
              </a:rPr>
              <a:t>Rules</a:t>
            </a:r>
            <a:endParaRPr lang="en-US" sz="2400" dirty="0"/>
          </a:p>
        </p:txBody>
      </p:sp>
      <p:sp>
        <p:nvSpPr>
          <p:cNvPr id="7" name="Text 4"/>
          <p:cNvSpPr txBox="1"/>
          <p:nvPr/>
        </p:nvSpPr>
        <p:spPr>
          <a:xfrm>
            <a:off x="822960" y="2103120"/>
            <a:ext cx="4846320" cy="292608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rgbClr val="22304A"/>
                </a:solidFill>
                <a:latin typeface="Calibri" pitchFamily="34" charset="0"/>
                <a:ea typeface="Calibri" pitchFamily="34" charset="-122"/>
                <a:cs typeface="Calibri" pitchFamily="34" charset="-120"/>
              </a:rPr>
              <a:t>Case-sensitive: notes.txt and Notes.txt are different files</a:t>
            </a:r>
            <a:endParaRPr lang="en-US" sz="1700" dirty="0"/>
          </a:p>
          <a:p>
            <a:pPr marL="342900" indent="-342900">
              <a:spcAft>
                <a:spcPts val="800"/>
              </a:spcAft>
              <a:buSzPct val="100000"/>
              <a:buChar char="•"/>
            </a:pPr>
            <a:r>
              <a:rPr lang="en-US" sz="1700" dirty="0">
                <a:solidFill>
                  <a:srgbClr val="22304A"/>
                </a:solidFill>
                <a:latin typeface="Calibri" pitchFamily="34" charset="0"/>
                <a:ea typeface="Calibri" pitchFamily="34" charset="-122"/>
                <a:cs typeface="Calibri" pitchFamily="34" charset="-120"/>
              </a:rPr>
              <a:t>Can be up to 255 characters long</a:t>
            </a:r>
            <a:endParaRPr lang="en-US" sz="1700" dirty="0"/>
          </a:p>
          <a:p>
            <a:pPr marL="342900" indent="-342900">
              <a:spcAft>
                <a:spcPts val="800"/>
              </a:spcAft>
              <a:buSzPct val="100000"/>
              <a:buChar char="•"/>
            </a:pPr>
            <a:r>
              <a:rPr lang="en-US" sz="1700" dirty="0">
                <a:solidFill>
                  <a:srgbClr val="22304A"/>
                </a:solidFill>
                <a:latin typeface="Calibri" pitchFamily="34" charset="0"/>
                <a:ea typeface="Calibri" pitchFamily="34" charset="-122"/>
                <a:cs typeface="Calibri" pitchFamily="34" charset="-120"/>
              </a:rPr>
              <a:t>Cannot contain / (it separates directories)</a:t>
            </a:r>
            <a:endParaRPr lang="en-US" sz="1700" dirty="0"/>
          </a:p>
          <a:p>
            <a:pPr marL="342900" indent="-342900">
              <a:spcAft>
                <a:spcPts val="800"/>
              </a:spcAft>
              <a:buSzPct val="100000"/>
              <a:buChar char="•"/>
            </a:pPr>
            <a:r>
              <a:rPr lang="en-US" sz="1700" dirty="0">
                <a:solidFill>
                  <a:srgbClr val="22304A"/>
                </a:solidFill>
                <a:latin typeface="Calibri" pitchFamily="34" charset="0"/>
                <a:ea typeface="Calibri" pitchFamily="34" charset="-122"/>
                <a:cs typeface="Calibri" pitchFamily="34" charset="-120"/>
              </a:rPr>
              <a:t>A leading dot makes a file hidden (.</a:t>
            </a:r>
            <a:r>
              <a:rPr lang="en-US" sz="1700" dirty="0" err="1">
                <a:solidFill>
                  <a:srgbClr val="22304A"/>
                </a:solidFill>
                <a:latin typeface="Calibri" pitchFamily="34" charset="0"/>
                <a:ea typeface="Calibri" pitchFamily="34" charset="-122"/>
                <a:cs typeface="Calibri" pitchFamily="34" charset="-120"/>
              </a:rPr>
              <a:t>bashrc</a:t>
            </a:r>
            <a:r>
              <a:rPr lang="en-US" sz="1700">
                <a:solidFill>
                  <a:srgbClr val="22304A"/>
                </a:solidFill>
                <a:latin typeface="Calibri" pitchFamily="34" charset="0"/>
                <a:ea typeface="Calibri" pitchFamily="34" charset="-122"/>
                <a:cs typeface="Calibri" pitchFamily="34" charset="-120"/>
              </a:rPr>
              <a:t>)</a:t>
            </a:r>
            <a:endParaRPr lang="en-US" sz="1700" dirty="0"/>
          </a:p>
        </p:txBody>
      </p:sp>
      <p:sp>
        <p:nvSpPr>
          <p:cNvPr id="8" name="Shape 5"/>
          <p:cNvSpPr/>
          <p:nvPr/>
        </p:nvSpPr>
        <p:spPr>
          <a:xfrm>
            <a:off x="6309360" y="1371600"/>
            <a:ext cx="5303520" cy="1737360"/>
          </a:xfrm>
          <a:prstGeom prst="roundRect">
            <a:avLst>
              <a:gd name="adj" fmla="val 7895"/>
            </a:avLst>
          </a:prstGeom>
          <a:solidFill>
            <a:srgbClr val="1B2A49"/>
          </a:solidFill>
          <a:ln w="12700">
            <a:solidFill>
              <a:srgbClr val="1B2A49"/>
            </a:solidFill>
            <a:prstDash val="solid"/>
          </a:ln>
          <a:effectLst>
            <a:outerShdw blurRad="101600" dist="25400" dir="5400000" algn="bl" rotWithShape="0">
              <a:srgbClr val="000000">
                <a:alpha val="12000"/>
              </a:srgbClr>
            </a:outerShdw>
          </a:effectLst>
        </p:spPr>
      </p:sp>
      <p:sp>
        <p:nvSpPr>
          <p:cNvPr id="9" name="Text 6"/>
          <p:cNvSpPr txBox="1"/>
          <p:nvPr/>
        </p:nvSpPr>
        <p:spPr>
          <a:xfrm>
            <a:off x="6583680" y="1463040"/>
            <a:ext cx="4754880" cy="365760"/>
          </a:xfrm>
          <a:prstGeom prst="rect">
            <a:avLst/>
          </a:prstGeom>
          <a:noFill/>
          <a:ln/>
        </p:spPr>
        <p:txBody>
          <a:bodyPr wrap="square" lIns="0" tIns="0" rIns="0" bIns="0" rtlCol="0" anchor="ctr"/>
          <a:lstStyle/>
          <a:p>
            <a:pPr marL="0" indent="0">
              <a:buNone/>
            </a:pPr>
            <a:r>
              <a:rPr lang="en-US" sz="1400" dirty="0">
                <a:solidFill>
                  <a:srgbClr val="CADCFC"/>
                </a:solidFill>
                <a:latin typeface="Calibri" pitchFamily="34" charset="0"/>
                <a:ea typeface="Calibri" pitchFamily="34" charset="-122"/>
                <a:cs typeface="Calibri" pitchFamily="34" charset="-120"/>
              </a:rPr>
              <a:t>Three different files in one folder</a:t>
            </a:r>
            <a:endParaRPr lang="en-US" sz="1400" dirty="0"/>
          </a:p>
        </p:txBody>
      </p:sp>
      <p:sp>
        <p:nvSpPr>
          <p:cNvPr id="10" name="Text 7"/>
          <p:cNvSpPr txBox="1"/>
          <p:nvPr/>
        </p:nvSpPr>
        <p:spPr>
          <a:xfrm>
            <a:off x="6583680" y="2011680"/>
            <a:ext cx="1645920" cy="731520"/>
          </a:xfrm>
          <a:prstGeom prst="rect">
            <a:avLst/>
          </a:prstGeom>
          <a:noFill/>
          <a:ln/>
        </p:spPr>
        <p:txBody>
          <a:bodyPr wrap="square" lIns="0" tIns="0" rIns="0" bIns="0" rtlCol="0" anchor="ctr"/>
          <a:lstStyle/>
          <a:p>
            <a:pPr marL="0" indent="0">
              <a:buNone/>
            </a:pPr>
            <a:r>
              <a:rPr lang="en-US" sz="1500" b="1" dirty="0">
                <a:solidFill>
                  <a:srgbClr val="1FA6A0"/>
                </a:solidFill>
                <a:latin typeface="Courier New" pitchFamily="34" charset="0"/>
                <a:ea typeface="Courier New" pitchFamily="34" charset="-122"/>
                <a:cs typeface="Courier New" pitchFamily="34" charset="-120"/>
              </a:rPr>
              <a:t>notes.txt</a:t>
            </a:r>
            <a:endParaRPr lang="en-US" sz="1500" dirty="0"/>
          </a:p>
        </p:txBody>
      </p:sp>
      <p:sp>
        <p:nvSpPr>
          <p:cNvPr id="11" name="Text 8"/>
          <p:cNvSpPr txBox="1"/>
          <p:nvPr/>
        </p:nvSpPr>
        <p:spPr>
          <a:xfrm>
            <a:off x="8275320" y="2011680"/>
            <a:ext cx="1645920" cy="731520"/>
          </a:xfrm>
          <a:prstGeom prst="rect">
            <a:avLst/>
          </a:prstGeom>
          <a:noFill/>
          <a:ln/>
        </p:spPr>
        <p:txBody>
          <a:bodyPr wrap="square" lIns="0" tIns="0" rIns="0" bIns="0" rtlCol="0" anchor="ctr"/>
          <a:lstStyle/>
          <a:p>
            <a:pPr marL="0" indent="0">
              <a:buNone/>
            </a:pPr>
            <a:r>
              <a:rPr lang="en-US" sz="1500" b="1" dirty="0">
                <a:solidFill>
                  <a:srgbClr val="F5A623"/>
                </a:solidFill>
                <a:latin typeface="Courier New" pitchFamily="34" charset="0"/>
                <a:ea typeface="Courier New" pitchFamily="34" charset="-122"/>
                <a:cs typeface="Courier New" pitchFamily="34" charset="-120"/>
              </a:rPr>
              <a:t>Notes.txt</a:t>
            </a:r>
            <a:endParaRPr lang="en-US" sz="1500" dirty="0"/>
          </a:p>
        </p:txBody>
      </p:sp>
      <p:sp>
        <p:nvSpPr>
          <p:cNvPr id="12" name="Text 9"/>
          <p:cNvSpPr txBox="1"/>
          <p:nvPr/>
        </p:nvSpPr>
        <p:spPr>
          <a:xfrm>
            <a:off x="9966960" y="2011680"/>
            <a:ext cx="1645920" cy="731520"/>
          </a:xfrm>
          <a:prstGeom prst="rect">
            <a:avLst/>
          </a:prstGeom>
          <a:noFill/>
          <a:ln/>
        </p:spPr>
        <p:txBody>
          <a:bodyPr wrap="square" lIns="0" tIns="0" rIns="0" bIns="0" rtlCol="0" anchor="ctr"/>
          <a:lstStyle/>
          <a:p>
            <a:pPr marL="0" indent="0">
              <a:buNone/>
            </a:pPr>
            <a:r>
              <a:rPr lang="en-US" sz="1400" b="1" dirty="0">
                <a:solidFill>
                  <a:srgbClr val="FFFFFF"/>
                </a:solidFill>
                <a:latin typeface="Courier New" pitchFamily="34" charset="0"/>
                <a:ea typeface="Courier New" pitchFamily="34" charset="-122"/>
                <a:cs typeface="Courier New" pitchFamily="34" charset="-120"/>
              </a:rPr>
              <a:t>NOTES.TXT</a:t>
            </a:r>
            <a:endParaRPr lang="en-US" sz="1400" dirty="0"/>
          </a:p>
        </p:txBody>
      </p:sp>
      <p:sp>
        <p:nvSpPr>
          <p:cNvPr id="13" name="Shape 10"/>
          <p:cNvSpPr/>
          <p:nvPr/>
        </p:nvSpPr>
        <p:spPr>
          <a:xfrm>
            <a:off x="6309360" y="3383280"/>
            <a:ext cx="2560320" cy="1828800"/>
          </a:xfrm>
          <a:prstGeom prst="roundRect">
            <a:avLst>
              <a:gd name="adj" fmla="val 7500"/>
            </a:avLst>
          </a:prstGeom>
          <a:solidFill>
            <a:srgbClr val="FFFFFF"/>
          </a:solidFill>
          <a:ln w="19050">
            <a:solidFill>
              <a:srgbClr val="2E9E6A"/>
            </a:solidFill>
            <a:prstDash val="solid"/>
          </a:ln>
          <a:effectLst>
            <a:outerShdw blurRad="101600" dist="25400" dir="5400000" algn="bl" rotWithShape="0">
              <a:srgbClr val="000000">
                <a:alpha val="12000"/>
              </a:srgbClr>
            </a:outerShdw>
          </a:effectLst>
        </p:spPr>
      </p:sp>
      <p:sp>
        <p:nvSpPr>
          <p:cNvPr id="14" name="Text 11"/>
          <p:cNvSpPr txBox="1"/>
          <p:nvPr/>
        </p:nvSpPr>
        <p:spPr>
          <a:xfrm>
            <a:off x="6446520" y="3474720"/>
            <a:ext cx="2286000" cy="365760"/>
          </a:xfrm>
          <a:prstGeom prst="rect">
            <a:avLst/>
          </a:prstGeom>
          <a:noFill/>
          <a:ln/>
        </p:spPr>
        <p:txBody>
          <a:bodyPr wrap="square" lIns="0" tIns="0" rIns="0" bIns="0" rtlCol="0" anchor="ctr"/>
          <a:lstStyle/>
          <a:p>
            <a:pPr marL="0" indent="0">
              <a:buNone/>
            </a:pPr>
            <a:r>
              <a:rPr lang="en-US" sz="1600" dirty="0">
                <a:solidFill>
                  <a:srgbClr val="00B050"/>
                </a:solidFill>
              </a:rPr>
              <a:t>Correct</a:t>
            </a:r>
          </a:p>
        </p:txBody>
      </p:sp>
      <p:sp>
        <p:nvSpPr>
          <p:cNvPr id="15" name="Text 12"/>
          <p:cNvSpPr txBox="1"/>
          <p:nvPr/>
        </p:nvSpPr>
        <p:spPr>
          <a:xfrm>
            <a:off x="6446520" y="3931920"/>
            <a:ext cx="2286000" cy="1188720"/>
          </a:xfrm>
          <a:prstGeom prst="rect">
            <a:avLst/>
          </a:prstGeom>
          <a:noFill/>
          <a:ln/>
        </p:spPr>
        <p:txBody>
          <a:bodyPr wrap="square" lIns="0" tIns="0" rIns="0" bIns="0" rtlCol="0" anchor="t"/>
          <a:lstStyle/>
          <a:p>
            <a:pPr marL="0" indent="0">
              <a:buNone/>
            </a:pPr>
            <a:r>
              <a:rPr lang="en-US" sz="1400" dirty="0">
                <a:solidFill>
                  <a:srgbClr val="22304A"/>
                </a:solidFill>
                <a:latin typeface="Courier New" pitchFamily="34" charset="0"/>
                <a:ea typeface="Courier New" pitchFamily="34" charset="-122"/>
                <a:cs typeface="Courier New" pitchFamily="34" charset="-120"/>
              </a:rPr>
              <a:t>my_report.txt</a:t>
            </a:r>
            <a:endParaRPr lang="en-US" sz="1400" dirty="0"/>
          </a:p>
          <a:p>
            <a:pPr marL="0" indent="0">
              <a:buNone/>
            </a:pPr>
            <a:r>
              <a:rPr lang="en-US" sz="1400" dirty="0">
                <a:solidFill>
                  <a:srgbClr val="22304A"/>
                </a:solidFill>
                <a:latin typeface="Courier New" pitchFamily="34" charset="0"/>
                <a:ea typeface="Courier New" pitchFamily="34" charset="-122"/>
                <a:cs typeface="Courier New" pitchFamily="34" charset="-120"/>
              </a:rPr>
              <a:t>notes-2026.md</a:t>
            </a:r>
            <a:endParaRPr lang="en-US" sz="1400" dirty="0"/>
          </a:p>
          <a:p>
            <a:pPr marL="0" indent="0">
              <a:buNone/>
            </a:pPr>
            <a:r>
              <a:rPr lang="en-US" sz="1400" dirty="0">
                <a:solidFill>
                  <a:srgbClr val="22304A"/>
                </a:solidFill>
                <a:latin typeface="Courier New" pitchFamily="34" charset="0"/>
                <a:ea typeface="Courier New" pitchFamily="34" charset="-122"/>
                <a:cs typeface="Courier New" pitchFamily="34" charset="-120"/>
              </a:rPr>
              <a:t>backup.tar</a:t>
            </a:r>
            <a:endParaRPr lang="en-US" sz="1400" dirty="0"/>
          </a:p>
        </p:txBody>
      </p:sp>
      <p:sp>
        <p:nvSpPr>
          <p:cNvPr id="16" name="Shape 13"/>
          <p:cNvSpPr/>
          <p:nvPr/>
        </p:nvSpPr>
        <p:spPr>
          <a:xfrm>
            <a:off x="9052560" y="3383280"/>
            <a:ext cx="2560320" cy="1828800"/>
          </a:xfrm>
          <a:prstGeom prst="roundRect">
            <a:avLst>
              <a:gd name="adj" fmla="val 7500"/>
            </a:avLst>
          </a:prstGeom>
          <a:solidFill>
            <a:srgbClr val="FFFFFF"/>
          </a:solidFill>
          <a:ln w="19050">
            <a:solidFill>
              <a:srgbClr val="D9534F"/>
            </a:solidFill>
            <a:prstDash val="solid"/>
          </a:ln>
          <a:effectLst>
            <a:outerShdw blurRad="101600" dist="25400" dir="5400000" algn="bl" rotWithShape="0">
              <a:srgbClr val="000000">
                <a:alpha val="12000"/>
              </a:srgbClr>
            </a:outerShdw>
          </a:effectLst>
        </p:spPr>
      </p:sp>
      <p:sp>
        <p:nvSpPr>
          <p:cNvPr id="17" name="Text 14"/>
          <p:cNvSpPr txBox="1"/>
          <p:nvPr/>
        </p:nvSpPr>
        <p:spPr>
          <a:xfrm>
            <a:off x="9189720" y="3474720"/>
            <a:ext cx="2286000" cy="365760"/>
          </a:xfrm>
          <a:prstGeom prst="rect">
            <a:avLst/>
          </a:prstGeom>
          <a:noFill/>
          <a:ln/>
        </p:spPr>
        <p:txBody>
          <a:bodyPr wrap="square" lIns="0" tIns="0" rIns="0" bIns="0" rtlCol="0" anchor="ctr"/>
          <a:lstStyle/>
          <a:p>
            <a:pPr marL="0" indent="0">
              <a:buNone/>
            </a:pPr>
            <a:r>
              <a:rPr lang="en-US" sz="1600" b="1" dirty="0">
                <a:solidFill>
                  <a:srgbClr val="D9534F"/>
                </a:solidFill>
                <a:latin typeface="Calibri" pitchFamily="34" charset="0"/>
                <a:ea typeface="Calibri" pitchFamily="34" charset="-122"/>
                <a:cs typeface="Calibri" pitchFamily="34" charset="-120"/>
              </a:rPr>
              <a:t>Incorrect</a:t>
            </a:r>
            <a:endParaRPr lang="en-US" sz="1600" dirty="0"/>
          </a:p>
        </p:txBody>
      </p:sp>
      <p:sp>
        <p:nvSpPr>
          <p:cNvPr id="18" name="Text 15"/>
          <p:cNvSpPr txBox="1"/>
          <p:nvPr/>
        </p:nvSpPr>
        <p:spPr>
          <a:xfrm>
            <a:off x="9189720" y="3931920"/>
            <a:ext cx="2286000" cy="1188720"/>
          </a:xfrm>
          <a:prstGeom prst="rect">
            <a:avLst/>
          </a:prstGeom>
          <a:noFill/>
          <a:ln/>
        </p:spPr>
        <p:txBody>
          <a:bodyPr wrap="square" lIns="0" tIns="0" rIns="0" bIns="0" rtlCol="0" anchor="t"/>
          <a:lstStyle/>
          <a:p>
            <a:pPr marL="0" indent="0">
              <a:buNone/>
            </a:pPr>
            <a:r>
              <a:rPr lang="en-US" sz="1400" dirty="0">
                <a:solidFill>
                  <a:srgbClr val="22304A"/>
                </a:solidFill>
                <a:latin typeface="Courier New" pitchFamily="34" charset="0"/>
                <a:ea typeface="Courier New" pitchFamily="34" charset="-122"/>
                <a:cs typeface="Courier New" pitchFamily="34" charset="-120"/>
              </a:rPr>
              <a:t>my report.txt</a:t>
            </a:r>
            <a:endParaRPr lang="en-US" sz="1400" dirty="0"/>
          </a:p>
          <a:p>
            <a:pPr marL="0" indent="0">
              <a:buNone/>
            </a:pPr>
            <a:r>
              <a:rPr lang="en-US" sz="1400" dirty="0">
                <a:solidFill>
                  <a:srgbClr val="22304A"/>
                </a:solidFill>
                <a:latin typeface="Courier New" pitchFamily="34" charset="0"/>
                <a:ea typeface="Courier New" pitchFamily="34" charset="-122"/>
                <a:cs typeface="Courier New" pitchFamily="34" charset="-120"/>
              </a:rPr>
              <a:t>file*name?</a:t>
            </a:r>
            <a:endParaRPr lang="en-US" sz="1400" dirty="0"/>
          </a:p>
          <a:p>
            <a:pPr marL="0" indent="0">
              <a:buNone/>
            </a:pPr>
            <a:r>
              <a:rPr lang="en-US" sz="1400" dirty="0">
                <a:solidFill>
                  <a:srgbClr val="22304A"/>
                </a:solidFill>
                <a:latin typeface="Courier New" pitchFamily="34" charset="0"/>
                <a:ea typeface="Courier New" pitchFamily="34" charset="-122"/>
                <a:cs typeface="Courier New" pitchFamily="34" charset="-120"/>
              </a:rPr>
              <a:t>-notes</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F2F6FB"/>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marL="0" indent="0">
              <a:buNone/>
            </a:pPr>
            <a:r>
              <a:rPr lang="en-US" sz="3400" b="1" dirty="0">
                <a:solidFill>
                  <a:srgbClr val="1B2A49"/>
                </a:solidFill>
                <a:latin typeface="Cambria" pitchFamily="34" charset="0"/>
                <a:ea typeface="Cambria" pitchFamily="34" charset="-122"/>
                <a:cs typeface="Cambria" pitchFamily="34" charset="-120"/>
              </a:rPr>
              <a:t>Pathnames: Absolute vs Relative</a:t>
            </a:r>
            <a:endParaRPr lang="en-US" sz="3400" dirty="0"/>
          </a:p>
        </p:txBody>
      </p:sp>
      <p:sp>
        <p:nvSpPr>
          <p:cNvPr id="3" name="Text 1"/>
          <p:cNvSpPr txBox="1"/>
          <p:nvPr/>
        </p:nvSpPr>
        <p:spPr>
          <a:xfrm>
            <a:off x="10698480" y="6400800"/>
            <a:ext cx="914400" cy="274320"/>
          </a:xfrm>
          <a:prstGeom prst="rect">
            <a:avLst/>
          </a:prstGeom>
          <a:noFill/>
          <a:ln/>
        </p:spPr>
        <p:txBody>
          <a:bodyPr wrap="square" lIns="0" tIns="0" rIns="0" bIns="0" rtlCol="0" anchor="ctr"/>
          <a:lstStyle/>
          <a:p>
            <a:pPr marL="0" indent="0" algn="r">
              <a:buNone/>
            </a:pPr>
            <a:r>
              <a:rPr lang="en-US" sz="1100" dirty="0">
                <a:solidFill>
                  <a:srgbClr val="5B6B85"/>
                </a:solidFill>
                <a:latin typeface="Calibri" pitchFamily="34" charset="0"/>
                <a:ea typeface="Calibri" pitchFamily="34" charset="-122"/>
                <a:cs typeface="Calibri" pitchFamily="34" charset="-120"/>
              </a:rPr>
              <a:t>7 / 12</a:t>
            </a:r>
            <a:endParaRPr lang="en-US" sz="1100" dirty="0"/>
          </a:p>
        </p:txBody>
      </p:sp>
      <p:sp>
        <p:nvSpPr>
          <p:cNvPr id="5" name="Shape 2"/>
          <p:cNvSpPr/>
          <p:nvPr/>
        </p:nvSpPr>
        <p:spPr>
          <a:xfrm>
            <a:off x="548640" y="1371600"/>
            <a:ext cx="5394960" cy="2743200"/>
          </a:xfrm>
          <a:prstGeom prst="roundRect">
            <a:avLst>
              <a:gd name="adj" fmla="val 5000"/>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sp>
      <p:sp>
        <p:nvSpPr>
          <p:cNvPr id="6" name="Text 3"/>
          <p:cNvSpPr txBox="1"/>
          <p:nvPr/>
        </p:nvSpPr>
        <p:spPr>
          <a:xfrm>
            <a:off x="822960" y="1508760"/>
            <a:ext cx="4846320" cy="457200"/>
          </a:xfrm>
          <a:prstGeom prst="rect">
            <a:avLst/>
          </a:prstGeom>
          <a:noFill/>
          <a:ln/>
        </p:spPr>
        <p:txBody>
          <a:bodyPr wrap="square" lIns="0" tIns="0" rIns="0" bIns="0" rtlCol="0" anchor="ctr"/>
          <a:lstStyle/>
          <a:p>
            <a:pPr marL="0" indent="0">
              <a:buNone/>
            </a:pPr>
            <a:r>
              <a:rPr lang="en-US" sz="2400" b="1" dirty="0">
                <a:solidFill>
                  <a:srgbClr val="1FA6A0"/>
                </a:solidFill>
                <a:latin typeface="Cambria" pitchFamily="34" charset="0"/>
                <a:ea typeface="Cambria" pitchFamily="34" charset="-122"/>
                <a:cs typeface="Cambria" pitchFamily="34" charset="-120"/>
              </a:rPr>
              <a:t>Absolute path</a:t>
            </a:r>
            <a:endParaRPr lang="en-US" sz="2400" dirty="0"/>
          </a:p>
        </p:txBody>
      </p:sp>
      <p:sp>
        <p:nvSpPr>
          <p:cNvPr id="7" name="Text 4"/>
          <p:cNvSpPr txBox="1"/>
          <p:nvPr/>
        </p:nvSpPr>
        <p:spPr>
          <a:xfrm>
            <a:off x="822960" y="2011680"/>
            <a:ext cx="4846320" cy="365760"/>
          </a:xfrm>
          <a:prstGeom prst="rect">
            <a:avLst/>
          </a:prstGeom>
          <a:noFill/>
          <a:ln/>
        </p:spPr>
        <p:txBody>
          <a:bodyPr wrap="square" lIns="0" tIns="0" rIns="0" bIns="0" rtlCol="0" anchor="ctr"/>
          <a:lstStyle/>
          <a:p>
            <a:pPr marL="0" indent="0">
              <a:buNone/>
            </a:pPr>
            <a:r>
              <a:rPr lang="en-US" sz="1600" dirty="0">
                <a:solidFill>
                  <a:srgbClr val="5B6B85"/>
                </a:solidFill>
                <a:latin typeface="Calibri" pitchFamily="34" charset="0"/>
                <a:ea typeface="Calibri" pitchFamily="34" charset="-122"/>
                <a:cs typeface="Calibri" pitchFamily="34" charset="-120"/>
              </a:rPr>
              <a:t>Starts from the root  /</a:t>
            </a:r>
            <a:endParaRPr lang="en-US" sz="1600" dirty="0"/>
          </a:p>
        </p:txBody>
      </p:sp>
      <p:sp>
        <p:nvSpPr>
          <p:cNvPr id="8" name="Shape 5"/>
          <p:cNvSpPr/>
          <p:nvPr/>
        </p:nvSpPr>
        <p:spPr>
          <a:xfrm>
            <a:off x="822960" y="2560320"/>
            <a:ext cx="4846320" cy="731520"/>
          </a:xfrm>
          <a:prstGeom prst="roundRect">
            <a:avLst>
              <a:gd name="adj" fmla="val 18750"/>
            </a:avLst>
          </a:prstGeom>
          <a:solidFill>
            <a:srgbClr val="1B2A49"/>
          </a:solidFill>
          <a:ln w="12700">
            <a:solidFill>
              <a:srgbClr val="1B2A49"/>
            </a:solidFill>
            <a:prstDash val="solid"/>
          </a:ln>
          <a:effectLst>
            <a:outerShdw blurRad="101600" dist="25400" dir="5400000" algn="bl" rotWithShape="0">
              <a:srgbClr val="000000">
                <a:alpha val="12000"/>
              </a:srgbClr>
            </a:outerShdw>
          </a:effectLst>
        </p:spPr>
      </p:sp>
      <p:sp>
        <p:nvSpPr>
          <p:cNvPr id="9" name="Text 6"/>
          <p:cNvSpPr txBox="1"/>
          <p:nvPr/>
        </p:nvSpPr>
        <p:spPr>
          <a:xfrm>
            <a:off x="822960" y="2560320"/>
            <a:ext cx="4846320" cy="731520"/>
          </a:xfrm>
          <a:prstGeom prst="rect">
            <a:avLst/>
          </a:prstGeom>
          <a:noFill/>
          <a:ln/>
        </p:spPr>
        <p:txBody>
          <a:bodyPr wrap="square" lIns="0" tIns="0" rIns="0" bIns="0" rtlCol="0" anchor="ctr"/>
          <a:lstStyle/>
          <a:p>
            <a:pPr marL="0" indent="0" algn="ctr">
              <a:buNone/>
            </a:pPr>
            <a:r>
              <a:rPr lang="en-US" sz="1600" b="1" dirty="0">
                <a:solidFill>
                  <a:srgbClr val="FFFFFF"/>
                </a:solidFill>
                <a:latin typeface="Courier New" pitchFamily="34" charset="0"/>
                <a:ea typeface="Courier New" pitchFamily="34" charset="-122"/>
                <a:cs typeface="Courier New" pitchFamily="34" charset="-120"/>
              </a:rPr>
              <a:t>/home/student/docs/report.txt</a:t>
            </a:r>
            <a:endParaRPr lang="en-US" sz="1600" dirty="0"/>
          </a:p>
        </p:txBody>
      </p:sp>
      <p:sp>
        <p:nvSpPr>
          <p:cNvPr id="10" name="Text 7"/>
          <p:cNvSpPr txBox="1"/>
          <p:nvPr/>
        </p:nvSpPr>
        <p:spPr>
          <a:xfrm>
            <a:off x="822960" y="3474720"/>
            <a:ext cx="4846320" cy="365760"/>
          </a:xfrm>
          <a:prstGeom prst="rect">
            <a:avLst/>
          </a:prstGeom>
          <a:noFill/>
          <a:ln/>
        </p:spPr>
        <p:txBody>
          <a:bodyPr wrap="square" lIns="0" tIns="0" rIns="0" bIns="0" rtlCol="0" anchor="ctr"/>
          <a:lstStyle/>
          <a:p>
            <a:pPr marL="0" indent="0">
              <a:buNone/>
            </a:pPr>
            <a:r>
              <a:rPr lang="en-US" sz="1600" b="1" dirty="0">
                <a:solidFill>
                  <a:srgbClr val="22304A"/>
                </a:solidFill>
                <a:latin typeface="Calibri" pitchFamily="34" charset="0"/>
                <a:ea typeface="Calibri" pitchFamily="34" charset="-122"/>
                <a:cs typeface="Calibri" pitchFamily="34" charset="-120"/>
              </a:rPr>
              <a:t>Works from anywhere</a:t>
            </a:r>
            <a:endParaRPr lang="en-US" sz="1600" dirty="0"/>
          </a:p>
        </p:txBody>
      </p:sp>
      <p:sp>
        <p:nvSpPr>
          <p:cNvPr id="11" name="Shape 8"/>
          <p:cNvSpPr/>
          <p:nvPr/>
        </p:nvSpPr>
        <p:spPr>
          <a:xfrm>
            <a:off x="6217920" y="1371600"/>
            <a:ext cx="5394960" cy="2743200"/>
          </a:xfrm>
          <a:prstGeom prst="roundRect">
            <a:avLst>
              <a:gd name="adj" fmla="val 5000"/>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sp>
      <p:sp>
        <p:nvSpPr>
          <p:cNvPr id="12" name="Text 9"/>
          <p:cNvSpPr txBox="1"/>
          <p:nvPr/>
        </p:nvSpPr>
        <p:spPr>
          <a:xfrm>
            <a:off x="6492240" y="1508760"/>
            <a:ext cx="4846320" cy="457200"/>
          </a:xfrm>
          <a:prstGeom prst="rect">
            <a:avLst/>
          </a:prstGeom>
          <a:noFill/>
          <a:ln/>
        </p:spPr>
        <p:txBody>
          <a:bodyPr wrap="square" lIns="0" tIns="0" rIns="0" bIns="0" rtlCol="0" anchor="ctr"/>
          <a:lstStyle/>
          <a:p>
            <a:pPr marL="0" indent="0">
              <a:buNone/>
            </a:pPr>
            <a:r>
              <a:rPr lang="en-US" sz="2400" b="1" dirty="0">
                <a:solidFill>
                  <a:srgbClr val="B87400"/>
                </a:solidFill>
                <a:latin typeface="Cambria" pitchFamily="34" charset="0"/>
                <a:ea typeface="Cambria" pitchFamily="34" charset="-122"/>
                <a:cs typeface="Cambria" pitchFamily="34" charset="-120"/>
              </a:rPr>
              <a:t>Relative path</a:t>
            </a:r>
            <a:endParaRPr lang="en-US" sz="2400" dirty="0"/>
          </a:p>
        </p:txBody>
      </p:sp>
      <p:sp>
        <p:nvSpPr>
          <p:cNvPr id="13" name="Text 10"/>
          <p:cNvSpPr txBox="1"/>
          <p:nvPr/>
        </p:nvSpPr>
        <p:spPr>
          <a:xfrm>
            <a:off x="6492240" y="2011680"/>
            <a:ext cx="4846320" cy="365760"/>
          </a:xfrm>
          <a:prstGeom prst="rect">
            <a:avLst/>
          </a:prstGeom>
          <a:noFill/>
          <a:ln/>
        </p:spPr>
        <p:txBody>
          <a:bodyPr wrap="square" lIns="0" tIns="0" rIns="0" bIns="0" rtlCol="0" anchor="ctr"/>
          <a:lstStyle/>
          <a:p>
            <a:pPr marL="0" indent="0">
              <a:buNone/>
            </a:pPr>
            <a:r>
              <a:rPr lang="en-US" sz="1600" dirty="0">
                <a:solidFill>
                  <a:srgbClr val="5B6B85"/>
                </a:solidFill>
                <a:latin typeface="Calibri" pitchFamily="34" charset="0"/>
                <a:ea typeface="Calibri" pitchFamily="34" charset="-122"/>
                <a:cs typeface="Calibri" pitchFamily="34" charset="-120"/>
              </a:rPr>
              <a:t>Starts from the current directory</a:t>
            </a:r>
            <a:endParaRPr lang="en-US" sz="1600" dirty="0"/>
          </a:p>
        </p:txBody>
      </p:sp>
      <p:sp>
        <p:nvSpPr>
          <p:cNvPr id="14" name="Shape 11"/>
          <p:cNvSpPr/>
          <p:nvPr/>
        </p:nvSpPr>
        <p:spPr>
          <a:xfrm>
            <a:off x="6492240" y="2560320"/>
            <a:ext cx="4846320" cy="731520"/>
          </a:xfrm>
          <a:prstGeom prst="roundRect">
            <a:avLst>
              <a:gd name="adj" fmla="val 18750"/>
            </a:avLst>
          </a:prstGeom>
          <a:solidFill>
            <a:srgbClr val="1B2A49"/>
          </a:solidFill>
          <a:ln w="12700">
            <a:solidFill>
              <a:srgbClr val="1B2A49"/>
            </a:solidFill>
            <a:prstDash val="solid"/>
          </a:ln>
          <a:effectLst>
            <a:outerShdw blurRad="101600" dist="25400" dir="5400000" algn="bl" rotWithShape="0">
              <a:srgbClr val="000000">
                <a:alpha val="12000"/>
              </a:srgbClr>
            </a:outerShdw>
          </a:effectLst>
        </p:spPr>
      </p:sp>
      <p:sp>
        <p:nvSpPr>
          <p:cNvPr id="15" name="Text 12"/>
          <p:cNvSpPr txBox="1"/>
          <p:nvPr/>
        </p:nvSpPr>
        <p:spPr>
          <a:xfrm>
            <a:off x="6492240" y="2560320"/>
            <a:ext cx="4846320" cy="731520"/>
          </a:xfrm>
          <a:prstGeom prst="rect">
            <a:avLst/>
          </a:prstGeom>
          <a:noFill/>
          <a:ln/>
        </p:spPr>
        <p:txBody>
          <a:bodyPr wrap="square" lIns="0" tIns="0" rIns="0" bIns="0" rtlCol="0" anchor="ctr"/>
          <a:lstStyle/>
          <a:p>
            <a:pPr marL="0" indent="0" algn="ctr">
              <a:buNone/>
            </a:pPr>
            <a:r>
              <a:rPr lang="en-US" sz="1600" b="1" dirty="0">
                <a:solidFill>
                  <a:srgbClr val="FFFFFF"/>
                </a:solidFill>
                <a:latin typeface="Courier New" pitchFamily="34" charset="0"/>
                <a:ea typeface="Courier New" pitchFamily="34" charset="-122"/>
                <a:cs typeface="Courier New" pitchFamily="34" charset="-120"/>
              </a:rPr>
              <a:t>docs/report.txt</a:t>
            </a:r>
            <a:endParaRPr lang="en-US" sz="1600" dirty="0"/>
          </a:p>
        </p:txBody>
      </p:sp>
      <p:sp>
        <p:nvSpPr>
          <p:cNvPr id="16" name="Text 13"/>
          <p:cNvSpPr txBox="1"/>
          <p:nvPr/>
        </p:nvSpPr>
        <p:spPr>
          <a:xfrm>
            <a:off x="6492240" y="3474720"/>
            <a:ext cx="4846320" cy="365760"/>
          </a:xfrm>
          <a:prstGeom prst="rect">
            <a:avLst/>
          </a:prstGeom>
          <a:noFill/>
          <a:ln/>
        </p:spPr>
        <p:txBody>
          <a:bodyPr wrap="square" lIns="0" tIns="0" rIns="0" bIns="0" rtlCol="0" anchor="ctr"/>
          <a:lstStyle/>
          <a:p>
            <a:pPr marL="0" indent="0">
              <a:buNone/>
            </a:pPr>
            <a:r>
              <a:rPr lang="en-US" sz="1600" b="1" dirty="0">
                <a:solidFill>
                  <a:srgbClr val="22304A"/>
                </a:solidFill>
                <a:latin typeface="Calibri" pitchFamily="34" charset="0"/>
                <a:ea typeface="Calibri" pitchFamily="34" charset="-122"/>
                <a:cs typeface="Calibri" pitchFamily="34" charset="-120"/>
              </a:rPr>
              <a:t>Depends on where you are</a:t>
            </a:r>
            <a:endParaRPr lang="en-US" sz="1600" dirty="0"/>
          </a:p>
        </p:txBody>
      </p:sp>
      <p:sp>
        <p:nvSpPr>
          <p:cNvPr id="17" name="Shape 14"/>
          <p:cNvSpPr/>
          <p:nvPr/>
        </p:nvSpPr>
        <p:spPr>
          <a:xfrm>
            <a:off x="548640" y="4434840"/>
            <a:ext cx="2606040" cy="1554480"/>
          </a:xfrm>
          <a:prstGeom prst="roundRect">
            <a:avLst>
              <a:gd name="adj" fmla="val 8824"/>
            </a:avLst>
          </a:prstGeom>
          <a:solidFill>
            <a:srgbClr val="1B2A49"/>
          </a:solidFill>
          <a:ln w="12700">
            <a:solidFill>
              <a:srgbClr val="1B2A49"/>
            </a:solidFill>
            <a:prstDash val="solid"/>
          </a:ln>
          <a:effectLst>
            <a:outerShdw blurRad="101600" dist="25400" dir="5400000" algn="bl" rotWithShape="0">
              <a:srgbClr val="000000">
                <a:alpha val="12000"/>
              </a:srgbClr>
            </a:outerShdw>
          </a:effectLst>
        </p:spPr>
      </p:sp>
      <p:sp>
        <p:nvSpPr>
          <p:cNvPr id="18" name="Text 15"/>
          <p:cNvSpPr txBox="1"/>
          <p:nvPr/>
        </p:nvSpPr>
        <p:spPr>
          <a:xfrm>
            <a:off x="548640" y="4526280"/>
            <a:ext cx="2606040" cy="731520"/>
          </a:xfrm>
          <a:prstGeom prst="rect">
            <a:avLst/>
          </a:prstGeom>
          <a:noFill/>
          <a:ln/>
        </p:spPr>
        <p:txBody>
          <a:bodyPr wrap="square" lIns="0" tIns="0" rIns="0" bIns="0" rtlCol="0" anchor="ctr"/>
          <a:lstStyle/>
          <a:p>
            <a:pPr marL="0" indent="0" algn="ctr">
              <a:buNone/>
            </a:pPr>
            <a:r>
              <a:rPr lang="en-US" sz="3600" b="1" dirty="0">
                <a:solidFill>
                  <a:srgbClr val="F5A623"/>
                </a:solidFill>
                <a:latin typeface="Courier New" pitchFamily="34" charset="0"/>
                <a:ea typeface="Courier New" pitchFamily="34" charset="-122"/>
                <a:cs typeface="Courier New" pitchFamily="34" charset="-120"/>
              </a:rPr>
              <a:t>/</a:t>
            </a:r>
            <a:endParaRPr lang="en-US" sz="3600" dirty="0"/>
          </a:p>
        </p:txBody>
      </p:sp>
      <p:sp>
        <p:nvSpPr>
          <p:cNvPr id="19" name="Text 16"/>
          <p:cNvSpPr txBox="1"/>
          <p:nvPr/>
        </p:nvSpPr>
        <p:spPr>
          <a:xfrm>
            <a:off x="548640" y="5303520"/>
            <a:ext cx="2606040" cy="457200"/>
          </a:xfrm>
          <a:prstGeom prst="rect">
            <a:avLst/>
          </a:prstGeom>
          <a:noFill/>
          <a:ln/>
        </p:spPr>
        <p:txBody>
          <a:bodyPr wrap="square" lIns="0" tIns="0" rIns="0" bIns="0" rtlCol="0" anchor="ctr"/>
          <a:lstStyle/>
          <a:p>
            <a:pPr marL="0" indent="0" algn="ctr">
              <a:buNone/>
            </a:pPr>
            <a:r>
              <a:rPr lang="en-US" sz="1600" dirty="0">
                <a:solidFill>
                  <a:srgbClr val="FFFFFF"/>
                </a:solidFill>
                <a:latin typeface="Calibri" pitchFamily="34" charset="0"/>
                <a:ea typeface="Calibri" pitchFamily="34" charset="-122"/>
                <a:cs typeface="Calibri" pitchFamily="34" charset="-120"/>
              </a:rPr>
              <a:t>root directory</a:t>
            </a:r>
            <a:endParaRPr lang="en-US" sz="1600" dirty="0"/>
          </a:p>
        </p:txBody>
      </p:sp>
      <p:sp>
        <p:nvSpPr>
          <p:cNvPr id="20" name="Shape 17"/>
          <p:cNvSpPr/>
          <p:nvPr/>
        </p:nvSpPr>
        <p:spPr>
          <a:xfrm>
            <a:off x="3383280" y="4434840"/>
            <a:ext cx="2606040" cy="1554480"/>
          </a:xfrm>
          <a:prstGeom prst="roundRect">
            <a:avLst>
              <a:gd name="adj" fmla="val 8824"/>
            </a:avLst>
          </a:prstGeom>
          <a:solidFill>
            <a:srgbClr val="1B2A49"/>
          </a:solidFill>
          <a:ln w="12700">
            <a:solidFill>
              <a:srgbClr val="1B2A49"/>
            </a:solidFill>
            <a:prstDash val="solid"/>
          </a:ln>
          <a:effectLst>
            <a:outerShdw blurRad="101600" dist="25400" dir="5400000" algn="bl" rotWithShape="0">
              <a:srgbClr val="000000">
                <a:alpha val="12000"/>
              </a:srgbClr>
            </a:outerShdw>
          </a:effectLst>
        </p:spPr>
      </p:sp>
      <p:sp>
        <p:nvSpPr>
          <p:cNvPr id="21" name="Text 18"/>
          <p:cNvSpPr txBox="1"/>
          <p:nvPr/>
        </p:nvSpPr>
        <p:spPr>
          <a:xfrm>
            <a:off x="3383280" y="4526280"/>
            <a:ext cx="2606040" cy="731520"/>
          </a:xfrm>
          <a:prstGeom prst="rect">
            <a:avLst/>
          </a:prstGeom>
          <a:noFill/>
          <a:ln/>
        </p:spPr>
        <p:txBody>
          <a:bodyPr wrap="square" lIns="0" tIns="0" rIns="0" bIns="0" rtlCol="0" anchor="ctr"/>
          <a:lstStyle/>
          <a:p>
            <a:pPr marL="0" indent="0" algn="ctr">
              <a:buNone/>
            </a:pPr>
            <a:r>
              <a:rPr lang="en-US" sz="3600" b="1" dirty="0">
                <a:solidFill>
                  <a:srgbClr val="F5A623"/>
                </a:solidFill>
                <a:latin typeface="Courier New" pitchFamily="34" charset="0"/>
                <a:ea typeface="Courier New" pitchFamily="34" charset="-122"/>
                <a:cs typeface="Courier New" pitchFamily="34" charset="-120"/>
              </a:rPr>
              <a:t>.</a:t>
            </a:r>
            <a:endParaRPr lang="en-US" sz="3600" dirty="0"/>
          </a:p>
        </p:txBody>
      </p:sp>
      <p:sp>
        <p:nvSpPr>
          <p:cNvPr id="22" name="Text 19"/>
          <p:cNvSpPr txBox="1"/>
          <p:nvPr/>
        </p:nvSpPr>
        <p:spPr>
          <a:xfrm>
            <a:off x="3383280" y="5303520"/>
            <a:ext cx="2606040" cy="457200"/>
          </a:xfrm>
          <a:prstGeom prst="rect">
            <a:avLst/>
          </a:prstGeom>
          <a:noFill/>
          <a:ln/>
        </p:spPr>
        <p:txBody>
          <a:bodyPr wrap="square" lIns="0" tIns="0" rIns="0" bIns="0" rtlCol="0" anchor="ctr"/>
          <a:lstStyle/>
          <a:p>
            <a:pPr marL="0" indent="0" algn="ctr">
              <a:buNone/>
            </a:pPr>
            <a:r>
              <a:rPr lang="en-US" sz="1600" dirty="0">
                <a:solidFill>
                  <a:srgbClr val="FFFFFF"/>
                </a:solidFill>
                <a:latin typeface="Calibri" pitchFamily="34" charset="0"/>
                <a:ea typeface="Calibri" pitchFamily="34" charset="-122"/>
                <a:cs typeface="Calibri" pitchFamily="34" charset="-120"/>
              </a:rPr>
              <a:t>current directory</a:t>
            </a:r>
            <a:endParaRPr lang="en-US" sz="1600" dirty="0"/>
          </a:p>
        </p:txBody>
      </p:sp>
      <p:sp>
        <p:nvSpPr>
          <p:cNvPr id="23" name="Shape 20"/>
          <p:cNvSpPr/>
          <p:nvPr/>
        </p:nvSpPr>
        <p:spPr>
          <a:xfrm>
            <a:off x="6217920" y="4434840"/>
            <a:ext cx="2606040" cy="1554480"/>
          </a:xfrm>
          <a:prstGeom prst="roundRect">
            <a:avLst>
              <a:gd name="adj" fmla="val 8824"/>
            </a:avLst>
          </a:prstGeom>
          <a:solidFill>
            <a:srgbClr val="1B2A49"/>
          </a:solidFill>
          <a:ln w="12700">
            <a:solidFill>
              <a:srgbClr val="1B2A49"/>
            </a:solidFill>
            <a:prstDash val="solid"/>
          </a:ln>
          <a:effectLst>
            <a:outerShdw blurRad="101600" dist="25400" dir="5400000" algn="bl" rotWithShape="0">
              <a:srgbClr val="000000">
                <a:alpha val="12000"/>
              </a:srgbClr>
            </a:outerShdw>
          </a:effectLst>
        </p:spPr>
      </p:sp>
      <p:sp>
        <p:nvSpPr>
          <p:cNvPr id="24" name="Text 21"/>
          <p:cNvSpPr txBox="1"/>
          <p:nvPr/>
        </p:nvSpPr>
        <p:spPr>
          <a:xfrm>
            <a:off x="6217920" y="4526280"/>
            <a:ext cx="2606040" cy="731520"/>
          </a:xfrm>
          <a:prstGeom prst="rect">
            <a:avLst/>
          </a:prstGeom>
          <a:noFill/>
          <a:ln/>
        </p:spPr>
        <p:txBody>
          <a:bodyPr wrap="square" lIns="0" tIns="0" rIns="0" bIns="0" rtlCol="0" anchor="ctr"/>
          <a:lstStyle/>
          <a:p>
            <a:pPr marL="0" indent="0" algn="ctr">
              <a:buNone/>
            </a:pPr>
            <a:r>
              <a:rPr lang="en-US" sz="3600" b="1" dirty="0">
                <a:solidFill>
                  <a:srgbClr val="F5A623"/>
                </a:solidFill>
                <a:latin typeface="Courier New" pitchFamily="34" charset="0"/>
                <a:ea typeface="Courier New" pitchFamily="34" charset="-122"/>
                <a:cs typeface="Courier New" pitchFamily="34" charset="-120"/>
              </a:rPr>
              <a:t>..</a:t>
            </a:r>
            <a:endParaRPr lang="en-US" sz="3600" dirty="0"/>
          </a:p>
        </p:txBody>
      </p:sp>
      <p:sp>
        <p:nvSpPr>
          <p:cNvPr id="25" name="Text 22"/>
          <p:cNvSpPr txBox="1"/>
          <p:nvPr/>
        </p:nvSpPr>
        <p:spPr>
          <a:xfrm>
            <a:off x="6217920" y="5303520"/>
            <a:ext cx="2606040" cy="457200"/>
          </a:xfrm>
          <a:prstGeom prst="rect">
            <a:avLst/>
          </a:prstGeom>
          <a:noFill/>
          <a:ln/>
        </p:spPr>
        <p:txBody>
          <a:bodyPr wrap="square" lIns="0" tIns="0" rIns="0" bIns="0" rtlCol="0" anchor="ctr"/>
          <a:lstStyle/>
          <a:p>
            <a:pPr marL="0" indent="0" algn="ctr">
              <a:buNone/>
            </a:pPr>
            <a:r>
              <a:rPr lang="en-US" sz="1600" dirty="0">
                <a:solidFill>
                  <a:srgbClr val="FFFFFF"/>
                </a:solidFill>
                <a:latin typeface="Calibri" pitchFamily="34" charset="0"/>
                <a:ea typeface="Calibri" pitchFamily="34" charset="-122"/>
                <a:cs typeface="Calibri" pitchFamily="34" charset="-120"/>
              </a:rPr>
              <a:t>parent directory</a:t>
            </a:r>
            <a:endParaRPr lang="en-US" sz="1600" dirty="0"/>
          </a:p>
        </p:txBody>
      </p:sp>
      <p:sp>
        <p:nvSpPr>
          <p:cNvPr id="26" name="Shape 23"/>
          <p:cNvSpPr/>
          <p:nvPr/>
        </p:nvSpPr>
        <p:spPr>
          <a:xfrm>
            <a:off x="9052560" y="4434840"/>
            <a:ext cx="2606040" cy="1554480"/>
          </a:xfrm>
          <a:prstGeom prst="roundRect">
            <a:avLst>
              <a:gd name="adj" fmla="val 8824"/>
            </a:avLst>
          </a:prstGeom>
          <a:solidFill>
            <a:srgbClr val="1B2A49"/>
          </a:solidFill>
          <a:ln w="12700">
            <a:solidFill>
              <a:srgbClr val="1B2A49"/>
            </a:solidFill>
            <a:prstDash val="solid"/>
          </a:ln>
          <a:effectLst>
            <a:outerShdw blurRad="101600" dist="25400" dir="5400000" algn="bl" rotWithShape="0">
              <a:srgbClr val="000000">
                <a:alpha val="12000"/>
              </a:srgbClr>
            </a:outerShdw>
          </a:effectLst>
        </p:spPr>
      </p:sp>
      <p:sp>
        <p:nvSpPr>
          <p:cNvPr id="27" name="Text 24"/>
          <p:cNvSpPr txBox="1"/>
          <p:nvPr/>
        </p:nvSpPr>
        <p:spPr>
          <a:xfrm>
            <a:off x="9052560" y="4526280"/>
            <a:ext cx="2606040" cy="731520"/>
          </a:xfrm>
          <a:prstGeom prst="rect">
            <a:avLst/>
          </a:prstGeom>
          <a:noFill/>
          <a:ln/>
        </p:spPr>
        <p:txBody>
          <a:bodyPr wrap="square" lIns="0" tIns="0" rIns="0" bIns="0" rtlCol="0" anchor="ctr"/>
          <a:lstStyle/>
          <a:p>
            <a:pPr marL="0" indent="0" algn="ctr">
              <a:buNone/>
            </a:pPr>
            <a:r>
              <a:rPr lang="en-US" sz="3600" b="1" dirty="0">
                <a:solidFill>
                  <a:srgbClr val="F5A623"/>
                </a:solidFill>
                <a:latin typeface="Courier New" pitchFamily="34" charset="0"/>
                <a:ea typeface="Courier New" pitchFamily="34" charset="-122"/>
                <a:cs typeface="Courier New" pitchFamily="34" charset="-120"/>
              </a:rPr>
              <a:t>~</a:t>
            </a:r>
            <a:endParaRPr lang="en-US" sz="3600" dirty="0"/>
          </a:p>
        </p:txBody>
      </p:sp>
      <p:sp>
        <p:nvSpPr>
          <p:cNvPr id="28" name="Text 25"/>
          <p:cNvSpPr txBox="1"/>
          <p:nvPr/>
        </p:nvSpPr>
        <p:spPr>
          <a:xfrm>
            <a:off x="9052560" y="5303520"/>
            <a:ext cx="2606040" cy="457200"/>
          </a:xfrm>
          <a:prstGeom prst="rect">
            <a:avLst/>
          </a:prstGeom>
          <a:noFill/>
          <a:ln/>
        </p:spPr>
        <p:txBody>
          <a:bodyPr wrap="square" lIns="0" tIns="0" rIns="0" bIns="0" rtlCol="0" anchor="ctr"/>
          <a:lstStyle/>
          <a:p>
            <a:pPr marL="0" indent="0" algn="ctr">
              <a:buNone/>
            </a:pPr>
            <a:r>
              <a:rPr lang="en-US" sz="1600" dirty="0">
                <a:solidFill>
                  <a:srgbClr val="FFFFFF"/>
                </a:solidFill>
                <a:latin typeface="Calibri" pitchFamily="34" charset="0"/>
                <a:ea typeface="Calibri" pitchFamily="34" charset="-122"/>
                <a:cs typeface="Calibri" pitchFamily="34" charset="-120"/>
              </a:rPr>
              <a:t>your home directory</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F2F6FB"/>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marL="0" indent="0">
              <a:buNone/>
            </a:pPr>
            <a:r>
              <a:rPr lang="en-US" sz="3400" b="1" dirty="0">
                <a:solidFill>
                  <a:srgbClr val="1B2A49"/>
                </a:solidFill>
                <a:latin typeface="Cambria" pitchFamily="34" charset="0"/>
                <a:ea typeface="Cambria" pitchFamily="34" charset="-122"/>
                <a:cs typeface="Cambria" pitchFamily="34" charset="-120"/>
              </a:rPr>
              <a:t>How Linux Finds a File</a:t>
            </a:r>
            <a:endParaRPr lang="en-US" sz="3400" dirty="0"/>
          </a:p>
        </p:txBody>
      </p:sp>
      <p:sp>
        <p:nvSpPr>
          <p:cNvPr id="3" name="Text 1"/>
          <p:cNvSpPr txBox="1"/>
          <p:nvPr/>
        </p:nvSpPr>
        <p:spPr>
          <a:xfrm>
            <a:off x="10698480" y="6400800"/>
            <a:ext cx="914400" cy="274320"/>
          </a:xfrm>
          <a:prstGeom prst="rect">
            <a:avLst/>
          </a:prstGeom>
          <a:noFill/>
          <a:ln/>
        </p:spPr>
        <p:txBody>
          <a:bodyPr wrap="square" lIns="0" tIns="0" rIns="0" bIns="0" rtlCol="0" anchor="ctr"/>
          <a:lstStyle/>
          <a:p>
            <a:pPr marL="0" indent="0" algn="r">
              <a:buNone/>
            </a:pPr>
            <a:r>
              <a:rPr lang="en-US" sz="1100" dirty="0">
                <a:solidFill>
                  <a:srgbClr val="5B6B85"/>
                </a:solidFill>
                <a:latin typeface="Calibri" pitchFamily="34" charset="0"/>
                <a:ea typeface="Calibri" pitchFamily="34" charset="-122"/>
                <a:cs typeface="Calibri" pitchFamily="34" charset="-120"/>
              </a:rPr>
              <a:t>8 / 12</a:t>
            </a:r>
            <a:endParaRPr lang="en-US" sz="1100" dirty="0"/>
          </a:p>
        </p:txBody>
      </p:sp>
      <p:sp>
        <p:nvSpPr>
          <p:cNvPr id="5" name="Text 2"/>
          <p:cNvSpPr txBox="1"/>
          <p:nvPr/>
        </p:nvSpPr>
        <p:spPr>
          <a:xfrm>
            <a:off x="548640" y="1143000"/>
            <a:ext cx="10972800" cy="457200"/>
          </a:xfrm>
          <a:prstGeom prst="rect">
            <a:avLst/>
          </a:prstGeom>
          <a:noFill/>
          <a:ln/>
        </p:spPr>
        <p:txBody>
          <a:bodyPr wrap="square" lIns="0" tIns="0" rIns="0" bIns="0" rtlCol="0" anchor="ctr"/>
          <a:lstStyle/>
          <a:p>
            <a:pPr marL="0" indent="0">
              <a:buNone/>
            </a:pPr>
            <a:r>
              <a:rPr lang="en-US" sz="2200" b="1" dirty="0">
                <a:solidFill>
                  <a:srgbClr val="1FA6A0"/>
                </a:solidFill>
                <a:latin typeface="Courier New" pitchFamily="34" charset="0"/>
                <a:ea typeface="Courier New" pitchFamily="34" charset="-122"/>
                <a:cs typeface="Courier New" pitchFamily="34" charset="-120"/>
              </a:rPr>
              <a:t>Example:  /home/student/notes.txt</a:t>
            </a:r>
            <a:endParaRPr lang="en-US" sz="2200" dirty="0"/>
          </a:p>
        </p:txBody>
      </p:sp>
      <p:sp>
        <p:nvSpPr>
          <p:cNvPr id="6" name="Shape 3"/>
          <p:cNvSpPr/>
          <p:nvPr/>
        </p:nvSpPr>
        <p:spPr>
          <a:xfrm>
            <a:off x="548640" y="1920240"/>
            <a:ext cx="2468880" cy="2651760"/>
          </a:xfrm>
          <a:prstGeom prst="roundRect">
            <a:avLst>
              <a:gd name="adj" fmla="val 5556"/>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sp>
      <p:sp>
        <p:nvSpPr>
          <p:cNvPr id="7" name="Shape 4"/>
          <p:cNvSpPr/>
          <p:nvPr/>
        </p:nvSpPr>
        <p:spPr>
          <a:xfrm>
            <a:off x="1417320" y="2103120"/>
            <a:ext cx="731520" cy="731520"/>
          </a:xfrm>
          <a:prstGeom prst="ellipse">
            <a:avLst/>
          </a:prstGeom>
          <a:solidFill>
            <a:srgbClr val="1B2A49"/>
          </a:solidFill>
          <a:ln w="12700">
            <a:solidFill>
              <a:srgbClr val="1B2A49"/>
            </a:solidFill>
            <a:prstDash val="solid"/>
          </a:ln>
        </p:spPr>
      </p:sp>
      <p:sp>
        <p:nvSpPr>
          <p:cNvPr id="8" name="Text 5"/>
          <p:cNvSpPr txBox="1"/>
          <p:nvPr/>
        </p:nvSpPr>
        <p:spPr>
          <a:xfrm>
            <a:off x="1417320" y="2103120"/>
            <a:ext cx="731520" cy="73152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1</a:t>
            </a:r>
            <a:endParaRPr lang="en-US" sz="2400" dirty="0"/>
          </a:p>
        </p:txBody>
      </p:sp>
      <p:sp>
        <p:nvSpPr>
          <p:cNvPr id="10" name="Text 7"/>
          <p:cNvSpPr txBox="1"/>
          <p:nvPr/>
        </p:nvSpPr>
        <p:spPr>
          <a:xfrm>
            <a:off x="685800" y="3429000"/>
            <a:ext cx="2194560" cy="640080"/>
          </a:xfrm>
          <a:prstGeom prst="rect">
            <a:avLst/>
          </a:prstGeom>
          <a:noFill/>
          <a:ln/>
        </p:spPr>
        <p:txBody>
          <a:bodyPr wrap="square" lIns="0" tIns="0" rIns="0" bIns="0" rtlCol="0" anchor="t"/>
          <a:lstStyle/>
          <a:p>
            <a:pPr algn="ctr">
              <a:defRPr sz="2200" b="1">
                <a:solidFill>
                  <a:srgbClr val="4169A0"/>
                </a:solidFill>
              </a:defRPr>
            </a:pPr>
            <a:endParaRPr lang="en-US" sz="1400" dirty="0"/>
          </a:p>
          <a:p>
            <a:pPr algn="ctr">
              <a:defRPr sz="1500">
                <a:solidFill>
                  <a:srgbClr val="232323"/>
                </a:solidFill>
              </a:defRPr>
            </a:pPr>
            <a:r>
              <a:rPr lang="en-US" sz="1200" dirty="0"/>
              <a:t>Start at / or</a:t>
            </a:r>
            <a:br>
              <a:rPr lang="en-US" sz="1200" dirty="0"/>
            </a:br>
            <a:r>
              <a:rPr lang="en-US" sz="1200" dirty="0"/>
              <a:t>the current directory</a:t>
            </a:r>
          </a:p>
          <a:p>
            <a:pPr marL="0" indent="0" algn="ctr">
              <a:buNone/>
            </a:pPr>
            <a:endParaRPr lang="en-US" sz="1400" dirty="0"/>
          </a:p>
        </p:txBody>
      </p:sp>
      <p:sp>
        <p:nvSpPr>
          <p:cNvPr id="12" name="Shape 9"/>
          <p:cNvSpPr/>
          <p:nvPr/>
        </p:nvSpPr>
        <p:spPr>
          <a:xfrm>
            <a:off x="3035808" y="3017520"/>
            <a:ext cx="329184" cy="411480"/>
          </a:xfrm>
          <a:prstGeom prst="rightArrow">
            <a:avLst/>
          </a:prstGeom>
          <a:solidFill>
            <a:srgbClr val="F5A623"/>
          </a:solidFill>
          <a:ln w="12700">
            <a:solidFill>
              <a:srgbClr val="F5A623"/>
            </a:solidFill>
            <a:prstDash val="solid"/>
          </a:ln>
        </p:spPr>
      </p:sp>
      <p:sp>
        <p:nvSpPr>
          <p:cNvPr id="13" name="Shape 10"/>
          <p:cNvSpPr/>
          <p:nvPr/>
        </p:nvSpPr>
        <p:spPr>
          <a:xfrm>
            <a:off x="3383280" y="1920240"/>
            <a:ext cx="2468880" cy="2651760"/>
          </a:xfrm>
          <a:prstGeom prst="roundRect">
            <a:avLst>
              <a:gd name="adj" fmla="val 5556"/>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sp>
      <p:sp>
        <p:nvSpPr>
          <p:cNvPr id="14" name="Shape 11"/>
          <p:cNvSpPr/>
          <p:nvPr/>
        </p:nvSpPr>
        <p:spPr>
          <a:xfrm>
            <a:off x="4251960" y="2103120"/>
            <a:ext cx="731520" cy="731520"/>
          </a:xfrm>
          <a:prstGeom prst="ellipse">
            <a:avLst/>
          </a:prstGeom>
          <a:solidFill>
            <a:srgbClr val="1FA6A0"/>
          </a:solidFill>
          <a:ln w="12700">
            <a:solidFill>
              <a:srgbClr val="1FA6A0"/>
            </a:solidFill>
            <a:prstDash val="solid"/>
          </a:ln>
        </p:spPr>
      </p:sp>
      <p:sp>
        <p:nvSpPr>
          <p:cNvPr id="15" name="Text 12"/>
          <p:cNvSpPr txBox="1"/>
          <p:nvPr/>
        </p:nvSpPr>
        <p:spPr>
          <a:xfrm>
            <a:off x="4251960" y="2103120"/>
            <a:ext cx="731520" cy="73152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2</a:t>
            </a:r>
            <a:endParaRPr lang="en-US" sz="2400" dirty="0"/>
          </a:p>
        </p:txBody>
      </p:sp>
      <p:sp>
        <p:nvSpPr>
          <p:cNvPr id="17" name="Text 14"/>
          <p:cNvSpPr txBox="1"/>
          <p:nvPr/>
        </p:nvSpPr>
        <p:spPr>
          <a:xfrm>
            <a:off x="3520440" y="3429000"/>
            <a:ext cx="2194560" cy="640080"/>
          </a:xfrm>
          <a:prstGeom prst="rect">
            <a:avLst/>
          </a:prstGeom>
          <a:noFill/>
          <a:ln/>
        </p:spPr>
        <p:txBody>
          <a:bodyPr wrap="square" lIns="0" tIns="0" rIns="0" bIns="0" rtlCol="0" anchor="t"/>
          <a:lstStyle/>
          <a:p>
            <a:pPr algn="ctr">
              <a:defRPr sz="1500">
                <a:solidFill>
                  <a:srgbClr val="232323"/>
                </a:solidFill>
              </a:defRPr>
            </a:pPr>
            <a:br>
              <a:rPr lang="en-IN" sz="1200" dirty="0"/>
            </a:br>
            <a:r>
              <a:rPr lang="en-IN" sz="1200" dirty="0"/>
              <a:t>Search the</a:t>
            </a:r>
            <a:br>
              <a:rPr lang="en-IN" sz="1200" dirty="0"/>
            </a:br>
            <a:r>
              <a:rPr lang="en-IN" sz="1200" dirty="0"/>
              <a:t>directory entry</a:t>
            </a:r>
          </a:p>
        </p:txBody>
      </p:sp>
      <p:sp>
        <p:nvSpPr>
          <p:cNvPr id="19" name="Shape 16"/>
          <p:cNvSpPr/>
          <p:nvPr/>
        </p:nvSpPr>
        <p:spPr>
          <a:xfrm>
            <a:off x="5870448" y="3017520"/>
            <a:ext cx="329184" cy="411480"/>
          </a:xfrm>
          <a:prstGeom prst="rightArrow">
            <a:avLst/>
          </a:prstGeom>
          <a:solidFill>
            <a:srgbClr val="F5A623"/>
          </a:solidFill>
          <a:ln w="12700">
            <a:solidFill>
              <a:srgbClr val="F5A623"/>
            </a:solidFill>
            <a:prstDash val="solid"/>
          </a:ln>
        </p:spPr>
      </p:sp>
      <p:sp>
        <p:nvSpPr>
          <p:cNvPr id="20" name="Shape 17"/>
          <p:cNvSpPr/>
          <p:nvPr/>
        </p:nvSpPr>
        <p:spPr>
          <a:xfrm>
            <a:off x="6217920" y="1920240"/>
            <a:ext cx="2468880" cy="2651760"/>
          </a:xfrm>
          <a:prstGeom prst="roundRect">
            <a:avLst>
              <a:gd name="adj" fmla="val 5556"/>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sp>
      <p:sp>
        <p:nvSpPr>
          <p:cNvPr id="21" name="Shape 18"/>
          <p:cNvSpPr/>
          <p:nvPr/>
        </p:nvSpPr>
        <p:spPr>
          <a:xfrm>
            <a:off x="7086600" y="2103120"/>
            <a:ext cx="731520" cy="731520"/>
          </a:xfrm>
          <a:prstGeom prst="ellipse">
            <a:avLst/>
          </a:prstGeom>
          <a:solidFill>
            <a:srgbClr val="1FA6A0"/>
          </a:solidFill>
          <a:ln w="12700">
            <a:solidFill>
              <a:srgbClr val="1FA6A0"/>
            </a:solidFill>
            <a:prstDash val="solid"/>
          </a:ln>
        </p:spPr>
      </p:sp>
      <p:sp>
        <p:nvSpPr>
          <p:cNvPr id="22" name="Text 19"/>
          <p:cNvSpPr txBox="1"/>
          <p:nvPr/>
        </p:nvSpPr>
        <p:spPr>
          <a:xfrm>
            <a:off x="7086600" y="2103120"/>
            <a:ext cx="731520" cy="73152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3</a:t>
            </a:r>
            <a:endParaRPr lang="en-US" sz="2400" dirty="0"/>
          </a:p>
        </p:txBody>
      </p:sp>
      <p:sp>
        <p:nvSpPr>
          <p:cNvPr id="24" name="Text 21"/>
          <p:cNvSpPr txBox="1"/>
          <p:nvPr/>
        </p:nvSpPr>
        <p:spPr>
          <a:xfrm>
            <a:off x="6355080" y="3429000"/>
            <a:ext cx="2194560" cy="640080"/>
          </a:xfrm>
          <a:prstGeom prst="rect">
            <a:avLst/>
          </a:prstGeom>
          <a:noFill/>
          <a:ln/>
        </p:spPr>
        <p:txBody>
          <a:bodyPr wrap="square" lIns="0" tIns="0" rIns="0" bIns="0" rtlCol="0" anchor="t"/>
          <a:lstStyle/>
          <a:p>
            <a:pPr algn="ctr">
              <a:defRPr sz="2200" b="1">
                <a:solidFill>
                  <a:srgbClr val="4169A0"/>
                </a:solidFill>
              </a:defRPr>
            </a:pPr>
            <a:endParaRPr lang="en-US" sz="1200" dirty="0"/>
          </a:p>
          <a:p>
            <a:pPr algn="ctr">
              <a:defRPr sz="1500">
                <a:solidFill>
                  <a:srgbClr val="232323"/>
                </a:solidFill>
              </a:defRPr>
            </a:pPr>
            <a:r>
              <a:rPr lang="en-US" sz="1200" dirty="0"/>
              <a:t>Find the</a:t>
            </a:r>
            <a:br>
              <a:rPr lang="en-US" sz="1200" dirty="0"/>
            </a:br>
            <a:r>
              <a:rPr lang="en-US" sz="1200" dirty="0" err="1"/>
              <a:t>inode</a:t>
            </a:r>
            <a:r>
              <a:rPr lang="en-US" sz="1200" dirty="0"/>
              <a:t> number</a:t>
            </a:r>
          </a:p>
          <a:p>
            <a:pPr marL="0" indent="0" algn="ctr">
              <a:buNone/>
            </a:pPr>
            <a:endParaRPr lang="en-US" sz="1200" dirty="0"/>
          </a:p>
        </p:txBody>
      </p:sp>
      <p:sp>
        <p:nvSpPr>
          <p:cNvPr id="26" name="Shape 23"/>
          <p:cNvSpPr/>
          <p:nvPr/>
        </p:nvSpPr>
        <p:spPr>
          <a:xfrm>
            <a:off x="8705088" y="3017520"/>
            <a:ext cx="329184" cy="411480"/>
          </a:xfrm>
          <a:prstGeom prst="rightArrow">
            <a:avLst/>
          </a:prstGeom>
          <a:solidFill>
            <a:srgbClr val="F5A623"/>
          </a:solidFill>
          <a:ln w="12700">
            <a:solidFill>
              <a:srgbClr val="F5A623"/>
            </a:solidFill>
            <a:prstDash val="solid"/>
          </a:ln>
        </p:spPr>
      </p:sp>
      <p:sp>
        <p:nvSpPr>
          <p:cNvPr id="27" name="Shape 24"/>
          <p:cNvSpPr/>
          <p:nvPr/>
        </p:nvSpPr>
        <p:spPr>
          <a:xfrm>
            <a:off x="9052560" y="1920240"/>
            <a:ext cx="2468880" cy="2651760"/>
          </a:xfrm>
          <a:prstGeom prst="roundRect">
            <a:avLst>
              <a:gd name="adj" fmla="val 5556"/>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sp>
      <p:sp>
        <p:nvSpPr>
          <p:cNvPr id="28" name="Shape 25"/>
          <p:cNvSpPr/>
          <p:nvPr/>
        </p:nvSpPr>
        <p:spPr>
          <a:xfrm>
            <a:off x="9921240" y="2103120"/>
            <a:ext cx="731520" cy="731520"/>
          </a:xfrm>
          <a:prstGeom prst="ellipse">
            <a:avLst/>
          </a:prstGeom>
          <a:solidFill>
            <a:srgbClr val="F5A623"/>
          </a:solidFill>
          <a:ln w="12700">
            <a:solidFill>
              <a:srgbClr val="F5A623"/>
            </a:solidFill>
            <a:prstDash val="solid"/>
          </a:ln>
        </p:spPr>
      </p:sp>
      <p:sp>
        <p:nvSpPr>
          <p:cNvPr id="29" name="Text 26"/>
          <p:cNvSpPr txBox="1"/>
          <p:nvPr/>
        </p:nvSpPr>
        <p:spPr>
          <a:xfrm>
            <a:off x="9921240" y="2103120"/>
            <a:ext cx="731520" cy="731520"/>
          </a:xfrm>
          <a:prstGeom prst="rect">
            <a:avLst/>
          </a:prstGeom>
          <a:noFill/>
          <a:ln/>
        </p:spPr>
        <p:txBody>
          <a:bodyPr wrap="square" lIns="0" tIns="0" rIns="0" bIns="0" rtlCol="0" anchor="ctr"/>
          <a:lstStyle/>
          <a:p>
            <a:pPr marL="0" indent="0" algn="ctr">
              <a:buNone/>
            </a:pPr>
            <a:r>
              <a:rPr lang="en-US" sz="2400" b="1" dirty="0">
                <a:solidFill>
                  <a:srgbClr val="1B2A49"/>
                </a:solidFill>
                <a:latin typeface="Calibri" pitchFamily="34" charset="0"/>
                <a:ea typeface="Calibri" pitchFamily="34" charset="-122"/>
                <a:cs typeface="Calibri" pitchFamily="34" charset="-120"/>
              </a:rPr>
              <a:t>4</a:t>
            </a:r>
            <a:endParaRPr lang="en-US" sz="2400" dirty="0"/>
          </a:p>
        </p:txBody>
      </p:sp>
      <p:sp>
        <p:nvSpPr>
          <p:cNvPr id="31" name="Text 28"/>
          <p:cNvSpPr txBox="1"/>
          <p:nvPr/>
        </p:nvSpPr>
        <p:spPr>
          <a:xfrm>
            <a:off x="9189720" y="3429000"/>
            <a:ext cx="2194560" cy="640080"/>
          </a:xfrm>
          <a:prstGeom prst="rect">
            <a:avLst/>
          </a:prstGeom>
          <a:noFill/>
          <a:ln/>
        </p:spPr>
        <p:txBody>
          <a:bodyPr wrap="square" lIns="0" tIns="0" rIns="0" bIns="0" rtlCol="0" anchor="t"/>
          <a:lstStyle/>
          <a:p>
            <a:pPr algn="ctr">
              <a:defRPr sz="2200" b="1">
                <a:solidFill>
                  <a:srgbClr val="4169A0"/>
                </a:solidFill>
              </a:defRPr>
            </a:pPr>
            <a:endParaRPr lang="en-US" sz="1200" dirty="0"/>
          </a:p>
          <a:p>
            <a:pPr algn="ctr">
              <a:defRPr sz="1500">
                <a:solidFill>
                  <a:srgbClr val="232323"/>
                </a:solidFill>
              </a:defRPr>
            </a:pPr>
            <a:r>
              <a:rPr lang="en-US" sz="1200" dirty="0"/>
              <a:t>Use </a:t>
            </a:r>
            <a:r>
              <a:rPr lang="en-US" sz="1200" dirty="0" err="1"/>
              <a:t>inode</a:t>
            </a:r>
            <a:r>
              <a:rPr lang="en-US" sz="1200" dirty="0"/>
              <a:t> information</a:t>
            </a:r>
            <a:br>
              <a:rPr lang="en-US" sz="1200" dirty="0"/>
            </a:br>
            <a:r>
              <a:rPr lang="en-US" sz="1200" dirty="0"/>
              <a:t>to access the file</a:t>
            </a:r>
          </a:p>
          <a:p>
            <a:pPr marL="0" indent="0" algn="ctr">
              <a:buNone/>
            </a:pP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F2F6FB"/>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marL="0" indent="0">
              <a:buNone/>
            </a:pPr>
            <a:r>
              <a:rPr lang="en-US" sz="3400" b="1" dirty="0">
                <a:solidFill>
                  <a:srgbClr val="1B2A49"/>
                </a:solidFill>
                <a:latin typeface="Cambria" pitchFamily="34" charset="0"/>
                <a:ea typeface="Cambria" pitchFamily="34" charset="-122"/>
                <a:cs typeface="Cambria" pitchFamily="34" charset="-120"/>
              </a:rPr>
              <a:t>Useful Commands</a:t>
            </a:r>
            <a:endParaRPr lang="en-US" sz="3400" dirty="0"/>
          </a:p>
        </p:txBody>
      </p:sp>
      <p:sp>
        <p:nvSpPr>
          <p:cNvPr id="3" name="Text 1"/>
          <p:cNvSpPr txBox="1"/>
          <p:nvPr/>
        </p:nvSpPr>
        <p:spPr>
          <a:xfrm>
            <a:off x="10698480" y="6400800"/>
            <a:ext cx="914400" cy="274320"/>
          </a:xfrm>
          <a:prstGeom prst="rect">
            <a:avLst/>
          </a:prstGeom>
          <a:noFill/>
          <a:ln/>
        </p:spPr>
        <p:txBody>
          <a:bodyPr wrap="square" lIns="0" tIns="0" rIns="0" bIns="0" rtlCol="0" anchor="ctr"/>
          <a:lstStyle/>
          <a:p>
            <a:pPr marL="0" indent="0" algn="r">
              <a:buNone/>
            </a:pPr>
            <a:r>
              <a:rPr lang="en-US" sz="1100" dirty="0">
                <a:solidFill>
                  <a:srgbClr val="5B6B85"/>
                </a:solidFill>
                <a:latin typeface="Calibri" pitchFamily="34" charset="0"/>
                <a:ea typeface="Calibri" pitchFamily="34" charset="-122"/>
                <a:cs typeface="Calibri" pitchFamily="34" charset="-120"/>
              </a:rPr>
              <a:t>9 / 12</a:t>
            </a:r>
            <a:endParaRPr lang="en-US" sz="1100" dirty="0"/>
          </a:p>
        </p:txBody>
      </p:sp>
      <p:sp>
        <p:nvSpPr>
          <p:cNvPr id="5" name="Shape 2"/>
          <p:cNvSpPr/>
          <p:nvPr/>
        </p:nvSpPr>
        <p:spPr>
          <a:xfrm>
            <a:off x="548640" y="1371600"/>
            <a:ext cx="5440680" cy="1417320"/>
          </a:xfrm>
          <a:prstGeom prst="roundRect">
            <a:avLst>
              <a:gd name="adj" fmla="val 9677"/>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sp>
      <p:sp>
        <p:nvSpPr>
          <p:cNvPr id="6" name="Shape 3"/>
          <p:cNvSpPr/>
          <p:nvPr/>
        </p:nvSpPr>
        <p:spPr>
          <a:xfrm>
            <a:off x="731520" y="1600200"/>
            <a:ext cx="1737360" cy="548640"/>
          </a:xfrm>
          <a:prstGeom prst="roundRect">
            <a:avLst>
              <a:gd name="adj" fmla="val 16667"/>
            </a:avLst>
          </a:prstGeom>
          <a:solidFill>
            <a:srgbClr val="1B2A49"/>
          </a:solidFill>
          <a:ln w="12700">
            <a:solidFill>
              <a:srgbClr val="1B2A49"/>
            </a:solidFill>
            <a:prstDash val="solid"/>
          </a:ln>
        </p:spPr>
      </p:sp>
      <p:sp>
        <p:nvSpPr>
          <p:cNvPr id="7" name="Text 4"/>
          <p:cNvSpPr txBox="1"/>
          <p:nvPr/>
        </p:nvSpPr>
        <p:spPr>
          <a:xfrm>
            <a:off x="731520" y="1600200"/>
            <a:ext cx="1737360" cy="548640"/>
          </a:xfrm>
          <a:prstGeom prst="rect">
            <a:avLst/>
          </a:prstGeom>
          <a:noFill/>
          <a:ln/>
        </p:spPr>
        <p:txBody>
          <a:bodyPr wrap="square" lIns="0" tIns="0" rIns="0" bIns="0" rtlCol="0" anchor="ctr"/>
          <a:lstStyle/>
          <a:p>
            <a:pPr marL="0" indent="0" algn="ctr">
              <a:buNone/>
            </a:pPr>
            <a:r>
              <a:rPr lang="en-US" sz="1600" b="1" dirty="0">
                <a:solidFill>
                  <a:srgbClr val="F5A623"/>
                </a:solidFill>
                <a:latin typeface="Courier New" pitchFamily="34" charset="0"/>
                <a:ea typeface="Courier New" pitchFamily="34" charset="-122"/>
                <a:cs typeface="Courier New" pitchFamily="34" charset="-120"/>
              </a:rPr>
              <a:t>ls -li</a:t>
            </a:r>
            <a:endParaRPr lang="en-US" sz="1600" dirty="0"/>
          </a:p>
        </p:txBody>
      </p:sp>
      <p:sp>
        <p:nvSpPr>
          <p:cNvPr id="8" name="Text 5"/>
          <p:cNvSpPr txBox="1"/>
          <p:nvPr/>
        </p:nvSpPr>
        <p:spPr>
          <a:xfrm>
            <a:off x="2651760" y="1554480"/>
            <a:ext cx="3200400" cy="640080"/>
          </a:xfrm>
          <a:prstGeom prst="rect">
            <a:avLst/>
          </a:prstGeom>
          <a:noFill/>
          <a:ln/>
        </p:spPr>
        <p:txBody>
          <a:bodyPr wrap="square" lIns="0" tIns="0" rIns="0" bIns="0" rtlCol="0" anchor="ctr"/>
          <a:lstStyle/>
          <a:p>
            <a:pPr marL="0" indent="0">
              <a:buNone/>
            </a:pPr>
            <a:r>
              <a:rPr lang="en-US" sz="1600" b="1" dirty="0">
                <a:solidFill>
                  <a:srgbClr val="1B2A49"/>
                </a:solidFill>
                <a:latin typeface="Calibri" pitchFamily="34" charset="0"/>
                <a:ea typeface="Calibri" pitchFamily="34" charset="-122"/>
                <a:cs typeface="Calibri" pitchFamily="34" charset="-120"/>
              </a:rPr>
              <a:t>List files with their inode numbers</a:t>
            </a:r>
            <a:endParaRPr lang="en-US" sz="1600" dirty="0"/>
          </a:p>
        </p:txBody>
      </p:sp>
      <p:sp>
        <p:nvSpPr>
          <p:cNvPr id="9" name="Text 6"/>
          <p:cNvSpPr txBox="1"/>
          <p:nvPr/>
        </p:nvSpPr>
        <p:spPr>
          <a:xfrm>
            <a:off x="731520" y="2286000"/>
            <a:ext cx="5029200" cy="365760"/>
          </a:xfrm>
          <a:prstGeom prst="rect">
            <a:avLst/>
          </a:prstGeom>
          <a:noFill/>
          <a:ln/>
        </p:spPr>
        <p:txBody>
          <a:bodyPr wrap="square" lIns="0" tIns="0" rIns="0" bIns="0" rtlCol="0" anchor="ctr"/>
          <a:lstStyle/>
          <a:p>
            <a:pPr marL="0" indent="0">
              <a:buNone/>
            </a:pPr>
            <a:r>
              <a:rPr lang="en-US" sz="1300" dirty="0">
                <a:solidFill>
                  <a:srgbClr val="1FA6A0"/>
                </a:solidFill>
                <a:latin typeface="Courier New" pitchFamily="34" charset="0"/>
                <a:ea typeface="Courier New" pitchFamily="34" charset="-122"/>
                <a:cs typeface="Courier New" pitchFamily="34" charset="-120"/>
              </a:rPr>
              <a:t>1052 -rw-r--r-- report.txt</a:t>
            </a:r>
            <a:endParaRPr lang="en-US" sz="1300" dirty="0"/>
          </a:p>
        </p:txBody>
      </p:sp>
      <p:sp>
        <p:nvSpPr>
          <p:cNvPr id="10" name="Shape 7"/>
          <p:cNvSpPr/>
          <p:nvPr/>
        </p:nvSpPr>
        <p:spPr>
          <a:xfrm>
            <a:off x="6172200" y="1371600"/>
            <a:ext cx="5440680" cy="1417320"/>
          </a:xfrm>
          <a:prstGeom prst="roundRect">
            <a:avLst>
              <a:gd name="adj" fmla="val 9677"/>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sp>
      <p:sp>
        <p:nvSpPr>
          <p:cNvPr id="11" name="Shape 8"/>
          <p:cNvSpPr/>
          <p:nvPr/>
        </p:nvSpPr>
        <p:spPr>
          <a:xfrm>
            <a:off x="6355080" y="1600200"/>
            <a:ext cx="1737360" cy="548640"/>
          </a:xfrm>
          <a:prstGeom prst="roundRect">
            <a:avLst>
              <a:gd name="adj" fmla="val 16667"/>
            </a:avLst>
          </a:prstGeom>
          <a:solidFill>
            <a:srgbClr val="1B2A49"/>
          </a:solidFill>
          <a:ln w="12700">
            <a:solidFill>
              <a:srgbClr val="1B2A49"/>
            </a:solidFill>
            <a:prstDash val="solid"/>
          </a:ln>
        </p:spPr>
      </p:sp>
      <p:sp>
        <p:nvSpPr>
          <p:cNvPr id="12" name="Text 9"/>
          <p:cNvSpPr txBox="1"/>
          <p:nvPr/>
        </p:nvSpPr>
        <p:spPr>
          <a:xfrm>
            <a:off x="6355080" y="1600200"/>
            <a:ext cx="1737360" cy="548640"/>
          </a:xfrm>
          <a:prstGeom prst="rect">
            <a:avLst/>
          </a:prstGeom>
          <a:noFill/>
          <a:ln/>
        </p:spPr>
        <p:txBody>
          <a:bodyPr wrap="square" lIns="0" tIns="0" rIns="0" bIns="0" rtlCol="0" anchor="ctr"/>
          <a:lstStyle/>
          <a:p>
            <a:pPr marL="0" indent="0" algn="ctr">
              <a:buNone/>
            </a:pPr>
            <a:r>
              <a:rPr lang="en-US" sz="1600" b="1" dirty="0">
                <a:solidFill>
                  <a:srgbClr val="F5A623"/>
                </a:solidFill>
                <a:latin typeface="Courier New" pitchFamily="34" charset="0"/>
                <a:ea typeface="Courier New" pitchFamily="34" charset="-122"/>
                <a:cs typeface="Courier New" pitchFamily="34" charset="-120"/>
              </a:rPr>
              <a:t>pwd</a:t>
            </a:r>
            <a:endParaRPr lang="en-US" sz="1600" dirty="0"/>
          </a:p>
        </p:txBody>
      </p:sp>
      <p:sp>
        <p:nvSpPr>
          <p:cNvPr id="13" name="Text 10"/>
          <p:cNvSpPr txBox="1"/>
          <p:nvPr/>
        </p:nvSpPr>
        <p:spPr>
          <a:xfrm>
            <a:off x="8275320" y="1554480"/>
            <a:ext cx="3200400" cy="640080"/>
          </a:xfrm>
          <a:prstGeom prst="rect">
            <a:avLst/>
          </a:prstGeom>
          <a:noFill/>
          <a:ln/>
        </p:spPr>
        <p:txBody>
          <a:bodyPr wrap="square" lIns="0" tIns="0" rIns="0" bIns="0" rtlCol="0" anchor="ctr"/>
          <a:lstStyle/>
          <a:p>
            <a:pPr marL="0" indent="0">
              <a:buNone/>
            </a:pPr>
            <a:r>
              <a:rPr lang="en-US" sz="1600" b="1" dirty="0">
                <a:solidFill>
                  <a:srgbClr val="1B2A49"/>
                </a:solidFill>
                <a:latin typeface="Calibri" pitchFamily="34" charset="0"/>
                <a:ea typeface="Calibri" pitchFamily="34" charset="-122"/>
                <a:cs typeface="Calibri" pitchFamily="34" charset="-120"/>
              </a:rPr>
              <a:t>Print the current directory</a:t>
            </a:r>
            <a:endParaRPr lang="en-US" sz="1600" dirty="0"/>
          </a:p>
        </p:txBody>
      </p:sp>
      <p:sp>
        <p:nvSpPr>
          <p:cNvPr id="14" name="Text 11"/>
          <p:cNvSpPr txBox="1"/>
          <p:nvPr/>
        </p:nvSpPr>
        <p:spPr>
          <a:xfrm>
            <a:off x="6355080" y="2286000"/>
            <a:ext cx="5029200" cy="365760"/>
          </a:xfrm>
          <a:prstGeom prst="rect">
            <a:avLst/>
          </a:prstGeom>
          <a:noFill/>
          <a:ln/>
        </p:spPr>
        <p:txBody>
          <a:bodyPr wrap="square" lIns="0" tIns="0" rIns="0" bIns="0" rtlCol="0" anchor="ctr"/>
          <a:lstStyle/>
          <a:p>
            <a:pPr marL="0" indent="0">
              <a:buNone/>
            </a:pPr>
            <a:r>
              <a:rPr lang="en-US" sz="1300" dirty="0">
                <a:solidFill>
                  <a:srgbClr val="1FA6A0"/>
                </a:solidFill>
                <a:latin typeface="Courier New" pitchFamily="34" charset="0"/>
                <a:ea typeface="Courier New" pitchFamily="34" charset="-122"/>
                <a:cs typeface="Courier New" pitchFamily="34" charset="-120"/>
              </a:rPr>
              <a:t>/home/student</a:t>
            </a:r>
            <a:endParaRPr lang="en-US" sz="1300" dirty="0"/>
          </a:p>
        </p:txBody>
      </p:sp>
      <p:sp>
        <p:nvSpPr>
          <p:cNvPr id="15" name="Shape 12"/>
          <p:cNvSpPr/>
          <p:nvPr/>
        </p:nvSpPr>
        <p:spPr>
          <a:xfrm>
            <a:off x="548640" y="3017520"/>
            <a:ext cx="5440680" cy="1417320"/>
          </a:xfrm>
          <a:prstGeom prst="roundRect">
            <a:avLst>
              <a:gd name="adj" fmla="val 9677"/>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sp>
      <p:sp>
        <p:nvSpPr>
          <p:cNvPr id="16" name="Shape 13"/>
          <p:cNvSpPr/>
          <p:nvPr/>
        </p:nvSpPr>
        <p:spPr>
          <a:xfrm>
            <a:off x="731520" y="3246120"/>
            <a:ext cx="1737360" cy="548640"/>
          </a:xfrm>
          <a:prstGeom prst="roundRect">
            <a:avLst>
              <a:gd name="adj" fmla="val 16667"/>
            </a:avLst>
          </a:prstGeom>
          <a:solidFill>
            <a:srgbClr val="1B2A49"/>
          </a:solidFill>
          <a:ln w="12700">
            <a:solidFill>
              <a:srgbClr val="1B2A49"/>
            </a:solidFill>
            <a:prstDash val="solid"/>
          </a:ln>
        </p:spPr>
      </p:sp>
      <p:sp>
        <p:nvSpPr>
          <p:cNvPr id="17" name="Text 14"/>
          <p:cNvSpPr txBox="1"/>
          <p:nvPr/>
        </p:nvSpPr>
        <p:spPr>
          <a:xfrm>
            <a:off x="731520" y="3246120"/>
            <a:ext cx="1737360" cy="548640"/>
          </a:xfrm>
          <a:prstGeom prst="rect">
            <a:avLst/>
          </a:prstGeom>
          <a:noFill/>
          <a:ln/>
        </p:spPr>
        <p:txBody>
          <a:bodyPr wrap="square" lIns="0" tIns="0" rIns="0" bIns="0" rtlCol="0" anchor="ctr"/>
          <a:lstStyle/>
          <a:p>
            <a:pPr marL="0" indent="0" algn="ctr">
              <a:buNone/>
            </a:pPr>
            <a:r>
              <a:rPr lang="en-US" sz="1600" b="1" dirty="0">
                <a:solidFill>
                  <a:srgbClr val="F5A623"/>
                </a:solidFill>
                <a:latin typeface="Courier New" pitchFamily="34" charset="0"/>
                <a:ea typeface="Courier New" pitchFamily="34" charset="-122"/>
                <a:cs typeface="Courier New" pitchFamily="34" charset="-120"/>
              </a:rPr>
              <a:t>cd docs</a:t>
            </a:r>
            <a:endParaRPr lang="en-US" sz="1600" dirty="0"/>
          </a:p>
        </p:txBody>
      </p:sp>
      <p:sp>
        <p:nvSpPr>
          <p:cNvPr id="18" name="Text 15"/>
          <p:cNvSpPr txBox="1"/>
          <p:nvPr/>
        </p:nvSpPr>
        <p:spPr>
          <a:xfrm>
            <a:off x="2651760" y="3200400"/>
            <a:ext cx="3200400" cy="640080"/>
          </a:xfrm>
          <a:prstGeom prst="rect">
            <a:avLst/>
          </a:prstGeom>
          <a:noFill/>
          <a:ln/>
        </p:spPr>
        <p:txBody>
          <a:bodyPr wrap="square" lIns="0" tIns="0" rIns="0" bIns="0" rtlCol="0" anchor="ctr"/>
          <a:lstStyle/>
          <a:p>
            <a:pPr marL="0" indent="0">
              <a:buNone/>
            </a:pPr>
            <a:r>
              <a:rPr lang="en-US" sz="1600" b="1" dirty="0">
                <a:solidFill>
                  <a:srgbClr val="1B2A49"/>
                </a:solidFill>
                <a:latin typeface="Calibri" pitchFamily="34" charset="0"/>
                <a:ea typeface="Calibri" pitchFamily="34" charset="-122"/>
                <a:cs typeface="Calibri" pitchFamily="34" charset="-120"/>
              </a:rPr>
              <a:t>Change directory</a:t>
            </a:r>
            <a:endParaRPr lang="en-US" sz="1600" dirty="0"/>
          </a:p>
        </p:txBody>
      </p:sp>
      <p:sp>
        <p:nvSpPr>
          <p:cNvPr id="19" name="Text 16"/>
          <p:cNvSpPr txBox="1"/>
          <p:nvPr/>
        </p:nvSpPr>
        <p:spPr>
          <a:xfrm>
            <a:off x="731520" y="3931920"/>
            <a:ext cx="5029200" cy="365760"/>
          </a:xfrm>
          <a:prstGeom prst="rect">
            <a:avLst/>
          </a:prstGeom>
          <a:noFill/>
          <a:ln/>
        </p:spPr>
        <p:txBody>
          <a:bodyPr wrap="square" lIns="0" tIns="0" rIns="0" bIns="0" rtlCol="0" anchor="ctr"/>
          <a:lstStyle/>
          <a:p>
            <a:pPr marL="0" indent="0">
              <a:buNone/>
            </a:pPr>
            <a:r>
              <a:rPr lang="en-US" sz="1300" dirty="0">
                <a:solidFill>
                  <a:srgbClr val="1FA6A0"/>
                </a:solidFill>
                <a:latin typeface="Courier New" pitchFamily="34" charset="0"/>
                <a:ea typeface="Courier New" pitchFamily="34" charset="-122"/>
                <a:cs typeface="Courier New" pitchFamily="34" charset="-120"/>
              </a:rPr>
              <a:t>cd ..   goes up one level</a:t>
            </a:r>
            <a:endParaRPr lang="en-US" sz="1300" dirty="0"/>
          </a:p>
        </p:txBody>
      </p:sp>
      <p:sp>
        <p:nvSpPr>
          <p:cNvPr id="20" name="Shape 17"/>
          <p:cNvSpPr/>
          <p:nvPr/>
        </p:nvSpPr>
        <p:spPr>
          <a:xfrm>
            <a:off x="6172200" y="3017520"/>
            <a:ext cx="5440680" cy="1417320"/>
          </a:xfrm>
          <a:prstGeom prst="roundRect">
            <a:avLst>
              <a:gd name="adj" fmla="val 9677"/>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sp>
      <p:sp>
        <p:nvSpPr>
          <p:cNvPr id="21" name="Shape 18"/>
          <p:cNvSpPr/>
          <p:nvPr/>
        </p:nvSpPr>
        <p:spPr>
          <a:xfrm>
            <a:off x="6355080" y="3246120"/>
            <a:ext cx="1737360" cy="548640"/>
          </a:xfrm>
          <a:prstGeom prst="roundRect">
            <a:avLst>
              <a:gd name="adj" fmla="val 16667"/>
            </a:avLst>
          </a:prstGeom>
          <a:solidFill>
            <a:srgbClr val="1B2A49"/>
          </a:solidFill>
          <a:ln w="12700">
            <a:solidFill>
              <a:srgbClr val="1B2A49"/>
            </a:solidFill>
            <a:prstDash val="solid"/>
          </a:ln>
        </p:spPr>
      </p:sp>
      <p:sp>
        <p:nvSpPr>
          <p:cNvPr id="22" name="Text 19"/>
          <p:cNvSpPr txBox="1"/>
          <p:nvPr/>
        </p:nvSpPr>
        <p:spPr>
          <a:xfrm>
            <a:off x="6355080" y="3246120"/>
            <a:ext cx="1737360" cy="548640"/>
          </a:xfrm>
          <a:prstGeom prst="rect">
            <a:avLst/>
          </a:prstGeom>
          <a:noFill/>
          <a:ln/>
        </p:spPr>
        <p:txBody>
          <a:bodyPr wrap="square" lIns="0" tIns="0" rIns="0" bIns="0" rtlCol="0" anchor="ctr"/>
          <a:lstStyle/>
          <a:p>
            <a:pPr marL="0" indent="0" algn="ctr">
              <a:buNone/>
            </a:pPr>
            <a:r>
              <a:rPr lang="en-US" sz="1600" b="1" dirty="0">
                <a:solidFill>
                  <a:srgbClr val="F5A623"/>
                </a:solidFill>
                <a:latin typeface="Courier New" pitchFamily="34" charset="0"/>
                <a:ea typeface="Courier New" pitchFamily="34" charset="-122"/>
                <a:cs typeface="Courier New" pitchFamily="34" charset="-120"/>
              </a:rPr>
              <a:t>mkdir notes</a:t>
            </a:r>
            <a:endParaRPr lang="en-US" sz="1600" dirty="0"/>
          </a:p>
        </p:txBody>
      </p:sp>
      <p:sp>
        <p:nvSpPr>
          <p:cNvPr id="23" name="Text 20"/>
          <p:cNvSpPr txBox="1"/>
          <p:nvPr/>
        </p:nvSpPr>
        <p:spPr>
          <a:xfrm>
            <a:off x="8275320" y="3200400"/>
            <a:ext cx="3200400" cy="640080"/>
          </a:xfrm>
          <a:prstGeom prst="rect">
            <a:avLst/>
          </a:prstGeom>
          <a:noFill/>
          <a:ln/>
        </p:spPr>
        <p:txBody>
          <a:bodyPr wrap="square" lIns="0" tIns="0" rIns="0" bIns="0" rtlCol="0" anchor="ctr"/>
          <a:lstStyle/>
          <a:p>
            <a:pPr marL="0" indent="0">
              <a:buNone/>
            </a:pPr>
            <a:r>
              <a:rPr lang="en-US" sz="1600" b="1" dirty="0">
                <a:solidFill>
                  <a:srgbClr val="1B2A49"/>
                </a:solidFill>
                <a:latin typeface="Calibri" pitchFamily="34" charset="0"/>
                <a:ea typeface="Calibri" pitchFamily="34" charset="-122"/>
                <a:cs typeface="Calibri" pitchFamily="34" charset="-120"/>
              </a:rPr>
              <a:t>Create a new directory</a:t>
            </a:r>
            <a:endParaRPr lang="en-US" sz="1600" dirty="0"/>
          </a:p>
        </p:txBody>
      </p:sp>
      <p:sp>
        <p:nvSpPr>
          <p:cNvPr id="24" name="Text 21"/>
          <p:cNvSpPr txBox="1"/>
          <p:nvPr/>
        </p:nvSpPr>
        <p:spPr>
          <a:xfrm>
            <a:off x="6355080" y="3931920"/>
            <a:ext cx="5029200" cy="365760"/>
          </a:xfrm>
          <a:prstGeom prst="rect">
            <a:avLst/>
          </a:prstGeom>
          <a:noFill/>
          <a:ln/>
        </p:spPr>
        <p:txBody>
          <a:bodyPr wrap="square" lIns="0" tIns="0" rIns="0" bIns="0" rtlCol="0" anchor="ctr"/>
          <a:lstStyle/>
          <a:p>
            <a:pPr marL="0" indent="0">
              <a:buNone/>
            </a:pPr>
            <a:r>
              <a:rPr lang="en-US" sz="1300" dirty="0">
                <a:solidFill>
                  <a:srgbClr val="1FA6A0"/>
                </a:solidFill>
                <a:latin typeface="Courier New" pitchFamily="34" charset="0"/>
                <a:ea typeface="Courier New" pitchFamily="34" charset="-122"/>
                <a:cs typeface="Courier New" pitchFamily="34" charset="-120"/>
              </a:rPr>
              <a:t>mkdir projects</a:t>
            </a:r>
            <a:endParaRPr lang="en-US" sz="1300" dirty="0"/>
          </a:p>
        </p:txBody>
      </p:sp>
      <p:sp>
        <p:nvSpPr>
          <p:cNvPr id="25" name="Shape 22"/>
          <p:cNvSpPr/>
          <p:nvPr/>
        </p:nvSpPr>
        <p:spPr>
          <a:xfrm>
            <a:off x="548640" y="4663440"/>
            <a:ext cx="5440680" cy="1417320"/>
          </a:xfrm>
          <a:prstGeom prst="roundRect">
            <a:avLst>
              <a:gd name="adj" fmla="val 9677"/>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sp>
      <p:sp>
        <p:nvSpPr>
          <p:cNvPr id="26" name="Shape 23"/>
          <p:cNvSpPr/>
          <p:nvPr/>
        </p:nvSpPr>
        <p:spPr>
          <a:xfrm>
            <a:off x="731520" y="4892040"/>
            <a:ext cx="1737360" cy="548640"/>
          </a:xfrm>
          <a:prstGeom prst="roundRect">
            <a:avLst>
              <a:gd name="adj" fmla="val 16667"/>
            </a:avLst>
          </a:prstGeom>
          <a:solidFill>
            <a:srgbClr val="1B2A49"/>
          </a:solidFill>
          <a:ln w="12700">
            <a:solidFill>
              <a:srgbClr val="1B2A49"/>
            </a:solidFill>
            <a:prstDash val="solid"/>
          </a:ln>
        </p:spPr>
      </p:sp>
      <p:sp>
        <p:nvSpPr>
          <p:cNvPr id="27" name="Text 24"/>
          <p:cNvSpPr txBox="1"/>
          <p:nvPr/>
        </p:nvSpPr>
        <p:spPr>
          <a:xfrm>
            <a:off x="731520" y="4892040"/>
            <a:ext cx="1737360" cy="548640"/>
          </a:xfrm>
          <a:prstGeom prst="rect">
            <a:avLst/>
          </a:prstGeom>
          <a:noFill/>
          <a:ln/>
        </p:spPr>
        <p:txBody>
          <a:bodyPr wrap="square" lIns="0" tIns="0" rIns="0" bIns="0" rtlCol="0" anchor="ctr"/>
          <a:lstStyle/>
          <a:p>
            <a:pPr marL="0" indent="0" algn="ctr">
              <a:buNone/>
            </a:pPr>
            <a:r>
              <a:rPr lang="en-US" sz="1600" b="1" dirty="0">
                <a:solidFill>
                  <a:srgbClr val="F5A623"/>
                </a:solidFill>
                <a:latin typeface="Courier New" pitchFamily="34" charset="0"/>
                <a:ea typeface="Courier New" pitchFamily="34" charset="-122"/>
                <a:cs typeface="Courier New" pitchFamily="34" charset="-120"/>
              </a:rPr>
              <a:t>ln a b</a:t>
            </a:r>
            <a:endParaRPr lang="en-US" sz="1600" dirty="0"/>
          </a:p>
        </p:txBody>
      </p:sp>
      <p:sp>
        <p:nvSpPr>
          <p:cNvPr id="28" name="Text 25"/>
          <p:cNvSpPr txBox="1"/>
          <p:nvPr/>
        </p:nvSpPr>
        <p:spPr>
          <a:xfrm>
            <a:off x="2651760" y="4846320"/>
            <a:ext cx="3200400" cy="640080"/>
          </a:xfrm>
          <a:prstGeom prst="rect">
            <a:avLst/>
          </a:prstGeom>
          <a:noFill/>
          <a:ln/>
        </p:spPr>
        <p:txBody>
          <a:bodyPr wrap="square" lIns="0" tIns="0" rIns="0" bIns="0" rtlCol="0" anchor="ctr"/>
          <a:lstStyle/>
          <a:p>
            <a:pPr marL="0" indent="0">
              <a:buNone/>
            </a:pPr>
            <a:r>
              <a:rPr lang="en-US" sz="1600" b="1" dirty="0">
                <a:solidFill>
                  <a:srgbClr val="1B2A49"/>
                </a:solidFill>
                <a:latin typeface="Calibri" pitchFamily="34" charset="0"/>
                <a:ea typeface="Calibri" pitchFamily="34" charset="-122"/>
                <a:cs typeface="Calibri" pitchFamily="34" charset="-120"/>
              </a:rPr>
              <a:t>Create a hard link (second name)</a:t>
            </a:r>
            <a:endParaRPr lang="en-US" sz="1600" dirty="0"/>
          </a:p>
        </p:txBody>
      </p:sp>
      <p:sp>
        <p:nvSpPr>
          <p:cNvPr id="29" name="Text 26"/>
          <p:cNvSpPr txBox="1"/>
          <p:nvPr/>
        </p:nvSpPr>
        <p:spPr>
          <a:xfrm>
            <a:off x="731520" y="5577840"/>
            <a:ext cx="5029200" cy="365760"/>
          </a:xfrm>
          <a:prstGeom prst="rect">
            <a:avLst/>
          </a:prstGeom>
          <a:noFill/>
          <a:ln/>
        </p:spPr>
        <p:txBody>
          <a:bodyPr wrap="square" lIns="0" tIns="0" rIns="0" bIns="0" rtlCol="0" anchor="ctr"/>
          <a:lstStyle/>
          <a:p>
            <a:pPr marL="0" indent="0">
              <a:buNone/>
            </a:pPr>
            <a:r>
              <a:rPr lang="en-US" sz="1300" dirty="0">
                <a:solidFill>
                  <a:srgbClr val="1FA6A0"/>
                </a:solidFill>
                <a:latin typeface="Courier New" pitchFamily="34" charset="0"/>
                <a:ea typeface="Courier New" pitchFamily="34" charset="-122"/>
                <a:cs typeface="Courier New" pitchFamily="34" charset="-120"/>
              </a:rPr>
              <a:t>ln report.txt copy.txt</a:t>
            </a:r>
            <a:endParaRPr lang="en-US" sz="1300" dirty="0"/>
          </a:p>
        </p:txBody>
      </p:sp>
      <p:sp>
        <p:nvSpPr>
          <p:cNvPr id="30" name="Shape 27"/>
          <p:cNvSpPr/>
          <p:nvPr/>
        </p:nvSpPr>
        <p:spPr>
          <a:xfrm>
            <a:off x="6172200" y="4663440"/>
            <a:ext cx="5440680" cy="1417320"/>
          </a:xfrm>
          <a:prstGeom prst="roundRect">
            <a:avLst>
              <a:gd name="adj" fmla="val 9677"/>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sp>
      <p:sp>
        <p:nvSpPr>
          <p:cNvPr id="31" name="Shape 28"/>
          <p:cNvSpPr/>
          <p:nvPr/>
        </p:nvSpPr>
        <p:spPr>
          <a:xfrm>
            <a:off x="6355080" y="4892040"/>
            <a:ext cx="1737360" cy="548640"/>
          </a:xfrm>
          <a:prstGeom prst="roundRect">
            <a:avLst>
              <a:gd name="adj" fmla="val 16667"/>
            </a:avLst>
          </a:prstGeom>
          <a:solidFill>
            <a:srgbClr val="1B2A49"/>
          </a:solidFill>
          <a:ln w="12700">
            <a:solidFill>
              <a:srgbClr val="1B2A49"/>
            </a:solidFill>
            <a:prstDash val="solid"/>
          </a:ln>
        </p:spPr>
      </p:sp>
      <p:sp>
        <p:nvSpPr>
          <p:cNvPr id="32" name="Text 29"/>
          <p:cNvSpPr txBox="1"/>
          <p:nvPr/>
        </p:nvSpPr>
        <p:spPr>
          <a:xfrm>
            <a:off x="6355080" y="4892040"/>
            <a:ext cx="1737360" cy="548640"/>
          </a:xfrm>
          <a:prstGeom prst="rect">
            <a:avLst/>
          </a:prstGeom>
          <a:noFill/>
          <a:ln/>
        </p:spPr>
        <p:txBody>
          <a:bodyPr wrap="square" lIns="0" tIns="0" rIns="0" bIns="0" rtlCol="0" anchor="ctr"/>
          <a:lstStyle/>
          <a:p>
            <a:pPr marL="0" indent="0" algn="ctr">
              <a:buNone/>
            </a:pPr>
            <a:r>
              <a:rPr lang="en-US" sz="1600" b="1" dirty="0">
                <a:solidFill>
                  <a:srgbClr val="F5A623"/>
                </a:solidFill>
                <a:latin typeface="Courier New" pitchFamily="34" charset="0"/>
                <a:ea typeface="Courier New" pitchFamily="34" charset="-122"/>
                <a:cs typeface="Courier New" pitchFamily="34" charset="-120"/>
              </a:rPr>
              <a:t>stat file</a:t>
            </a:r>
            <a:endParaRPr lang="en-US" sz="1600" dirty="0"/>
          </a:p>
        </p:txBody>
      </p:sp>
      <p:sp>
        <p:nvSpPr>
          <p:cNvPr id="33" name="Text 30"/>
          <p:cNvSpPr txBox="1"/>
          <p:nvPr/>
        </p:nvSpPr>
        <p:spPr>
          <a:xfrm>
            <a:off x="8275320" y="4846320"/>
            <a:ext cx="3200400" cy="640080"/>
          </a:xfrm>
          <a:prstGeom prst="rect">
            <a:avLst/>
          </a:prstGeom>
          <a:noFill/>
          <a:ln/>
        </p:spPr>
        <p:txBody>
          <a:bodyPr wrap="square" lIns="0" tIns="0" rIns="0" bIns="0" rtlCol="0" anchor="ctr"/>
          <a:lstStyle/>
          <a:p>
            <a:pPr marL="0" indent="0">
              <a:buNone/>
            </a:pPr>
            <a:r>
              <a:rPr lang="en-US" sz="1600" b="1" dirty="0">
                <a:solidFill>
                  <a:srgbClr val="1B2A49"/>
                </a:solidFill>
                <a:latin typeface="Calibri" pitchFamily="34" charset="0"/>
                <a:ea typeface="Calibri" pitchFamily="34" charset="-122"/>
                <a:cs typeface="Calibri" pitchFamily="34" charset="-120"/>
              </a:rPr>
              <a:t>Show full inode details</a:t>
            </a:r>
            <a:endParaRPr lang="en-US" sz="1600" dirty="0"/>
          </a:p>
        </p:txBody>
      </p:sp>
      <p:sp>
        <p:nvSpPr>
          <p:cNvPr id="34" name="Text 31"/>
          <p:cNvSpPr txBox="1"/>
          <p:nvPr/>
        </p:nvSpPr>
        <p:spPr>
          <a:xfrm>
            <a:off x="6355080" y="5577840"/>
            <a:ext cx="5029200" cy="365760"/>
          </a:xfrm>
          <a:prstGeom prst="rect">
            <a:avLst/>
          </a:prstGeom>
          <a:noFill/>
          <a:ln/>
        </p:spPr>
        <p:txBody>
          <a:bodyPr wrap="square" lIns="0" tIns="0" rIns="0" bIns="0" rtlCol="0" anchor="ctr"/>
          <a:lstStyle/>
          <a:p>
            <a:pPr marL="0" indent="0">
              <a:buNone/>
            </a:pPr>
            <a:r>
              <a:rPr lang="en-US" sz="1300" dirty="0">
                <a:solidFill>
                  <a:srgbClr val="1FA6A0"/>
                </a:solidFill>
                <a:latin typeface="Courier New" pitchFamily="34" charset="0"/>
                <a:ea typeface="Courier New" pitchFamily="34" charset="-122"/>
                <a:cs typeface="Courier New" pitchFamily="34" charset="-120"/>
              </a:rPr>
              <a:t>Size, owner, links, times</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F2F6FB"/>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marL="0" indent="0">
              <a:buNone/>
            </a:pPr>
            <a:r>
              <a:rPr lang="en-US" sz="3400" b="1" dirty="0">
                <a:solidFill>
                  <a:srgbClr val="1B2A49"/>
                </a:solidFill>
                <a:latin typeface="Cambria" pitchFamily="34" charset="0"/>
                <a:ea typeface="Cambria" pitchFamily="34" charset="-122"/>
                <a:cs typeface="Cambria" pitchFamily="34" charset="-120"/>
              </a:rPr>
              <a:t>Hard Links: Two Names, One File</a:t>
            </a:r>
            <a:endParaRPr lang="en-US" sz="3400" dirty="0"/>
          </a:p>
        </p:txBody>
      </p:sp>
      <p:sp>
        <p:nvSpPr>
          <p:cNvPr id="3" name="Text 1"/>
          <p:cNvSpPr txBox="1"/>
          <p:nvPr/>
        </p:nvSpPr>
        <p:spPr>
          <a:xfrm>
            <a:off x="10698480" y="6400800"/>
            <a:ext cx="914400" cy="274320"/>
          </a:xfrm>
          <a:prstGeom prst="rect">
            <a:avLst/>
          </a:prstGeom>
          <a:noFill/>
          <a:ln/>
        </p:spPr>
        <p:txBody>
          <a:bodyPr wrap="square" lIns="0" tIns="0" rIns="0" bIns="0" rtlCol="0" anchor="ctr"/>
          <a:lstStyle/>
          <a:p>
            <a:pPr marL="0" indent="0" algn="r">
              <a:buNone/>
            </a:pPr>
            <a:r>
              <a:rPr lang="en-US" sz="1100" dirty="0">
                <a:solidFill>
                  <a:srgbClr val="5B6B85"/>
                </a:solidFill>
                <a:latin typeface="Calibri" pitchFamily="34" charset="0"/>
                <a:ea typeface="Calibri" pitchFamily="34" charset="-122"/>
                <a:cs typeface="Calibri" pitchFamily="34" charset="-120"/>
              </a:rPr>
              <a:t>10 / 12</a:t>
            </a:r>
            <a:endParaRPr lang="en-US" sz="1100" dirty="0"/>
          </a:p>
        </p:txBody>
      </p:sp>
      <p:sp>
        <p:nvSpPr>
          <p:cNvPr id="5" name="Shape 2"/>
          <p:cNvSpPr/>
          <p:nvPr/>
        </p:nvSpPr>
        <p:spPr>
          <a:xfrm>
            <a:off x="640080" y="1463040"/>
            <a:ext cx="3291840" cy="1188720"/>
          </a:xfrm>
          <a:prstGeom prst="roundRect">
            <a:avLst>
              <a:gd name="adj" fmla="val 11538"/>
            </a:avLst>
          </a:prstGeom>
          <a:solidFill>
            <a:srgbClr val="FFFFFF"/>
          </a:solidFill>
          <a:ln w="19050">
            <a:solidFill>
              <a:srgbClr val="1FA6A0"/>
            </a:solidFill>
            <a:prstDash val="solid"/>
          </a:ln>
          <a:effectLst>
            <a:outerShdw blurRad="101600" dist="25400" dir="5400000" algn="bl" rotWithShape="0">
              <a:srgbClr val="000000">
                <a:alpha val="12000"/>
              </a:srgbClr>
            </a:outerShdw>
          </a:effectLst>
        </p:spPr>
      </p:sp>
      <p:sp>
        <p:nvSpPr>
          <p:cNvPr id="6" name="Text 3"/>
          <p:cNvSpPr txBox="1"/>
          <p:nvPr/>
        </p:nvSpPr>
        <p:spPr>
          <a:xfrm>
            <a:off x="640080" y="1463040"/>
            <a:ext cx="3291840" cy="1188720"/>
          </a:xfrm>
          <a:prstGeom prst="rect">
            <a:avLst/>
          </a:prstGeom>
          <a:noFill/>
          <a:ln/>
        </p:spPr>
        <p:txBody>
          <a:bodyPr wrap="square" lIns="0" tIns="0" rIns="0" bIns="0" rtlCol="0" anchor="ctr"/>
          <a:lstStyle/>
          <a:p>
            <a:pPr marL="0" indent="0" algn="ctr">
              <a:buNone/>
            </a:pPr>
            <a:r>
              <a:rPr lang="en-US" sz="2200" b="1" dirty="0">
                <a:solidFill>
                  <a:srgbClr val="1B2A49"/>
                </a:solidFill>
                <a:latin typeface="Courier New" pitchFamily="34" charset="0"/>
                <a:ea typeface="Courier New" pitchFamily="34" charset="-122"/>
                <a:cs typeface="Courier New" pitchFamily="34" charset="-120"/>
              </a:rPr>
              <a:t>report.txt</a:t>
            </a:r>
            <a:endParaRPr lang="en-US" sz="2200" dirty="0"/>
          </a:p>
        </p:txBody>
      </p:sp>
      <p:sp>
        <p:nvSpPr>
          <p:cNvPr id="7" name="Shape 4"/>
          <p:cNvSpPr/>
          <p:nvPr/>
        </p:nvSpPr>
        <p:spPr>
          <a:xfrm>
            <a:off x="640080" y="3291840"/>
            <a:ext cx="3291840" cy="1188720"/>
          </a:xfrm>
          <a:prstGeom prst="roundRect">
            <a:avLst>
              <a:gd name="adj" fmla="val 11538"/>
            </a:avLst>
          </a:prstGeom>
          <a:solidFill>
            <a:srgbClr val="FFFFFF"/>
          </a:solidFill>
          <a:ln w="19050">
            <a:solidFill>
              <a:srgbClr val="F5A623"/>
            </a:solidFill>
            <a:prstDash val="solid"/>
          </a:ln>
          <a:effectLst>
            <a:outerShdw blurRad="101600" dist="25400" dir="5400000" algn="bl" rotWithShape="0">
              <a:srgbClr val="000000">
                <a:alpha val="12000"/>
              </a:srgbClr>
            </a:outerShdw>
          </a:effectLst>
        </p:spPr>
      </p:sp>
      <p:sp>
        <p:nvSpPr>
          <p:cNvPr id="8" name="Text 5"/>
          <p:cNvSpPr txBox="1"/>
          <p:nvPr/>
        </p:nvSpPr>
        <p:spPr>
          <a:xfrm>
            <a:off x="640080" y="3291840"/>
            <a:ext cx="3291840" cy="1188720"/>
          </a:xfrm>
          <a:prstGeom prst="rect">
            <a:avLst/>
          </a:prstGeom>
          <a:noFill/>
          <a:ln/>
        </p:spPr>
        <p:txBody>
          <a:bodyPr wrap="square" lIns="0" tIns="0" rIns="0" bIns="0" rtlCol="0" anchor="ctr"/>
          <a:lstStyle/>
          <a:p>
            <a:pPr marL="0" indent="0" algn="ctr">
              <a:buNone/>
            </a:pPr>
            <a:r>
              <a:rPr lang="en-US" sz="2200" b="1" dirty="0">
                <a:solidFill>
                  <a:srgbClr val="1B2A49"/>
                </a:solidFill>
                <a:latin typeface="Courier New" pitchFamily="34" charset="0"/>
                <a:ea typeface="Courier New" pitchFamily="34" charset="-122"/>
                <a:cs typeface="Courier New" pitchFamily="34" charset="-120"/>
              </a:rPr>
              <a:t>copy.txt</a:t>
            </a:r>
            <a:endParaRPr lang="en-US" sz="2200" dirty="0"/>
          </a:p>
        </p:txBody>
      </p:sp>
      <p:sp>
        <p:nvSpPr>
          <p:cNvPr id="9" name="Text 6"/>
          <p:cNvSpPr txBox="1"/>
          <p:nvPr/>
        </p:nvSpPr>
        <p:spPr>
          <a:xfrm>
            <a:off x="640080" y="4572000"/>
            <a:ext cx="3291840" cy="365760"/>
          </a:xfrm>
          <a:prstGeom prst="rect">
            <a:avLst/>
          </a:prstGeom>
          <a:noFill/>
          <a:ln/>
        </p:spPr>
        <p:txBody>
          <a:bodyPr wrap="square" lIns="0" tIns="0" rIns="0" bIns="0" rtlCol="0" anchor="ctr"/>
          <a:lstStyle/>
          <a:p>
            <a:pPr marL="0" indent="0" algn="ctr">
              <a:buNone/>
            </a:pPr>
            <a:r>
              <a:rPr lang="en-US" sz="1500" i="1" dirty="0">
                <a:solidFill>
                  <a:srgbClr val="5B6B85"/>
                </a:solidFill>
                <a:latin typeface="Calibri" pitchFamily="34" charset="0"/>
                <a:ea typeface="Calibri" pitchFamily="34" charset="-122"/>
                <a:cs typeface="Calibri" pitchFamily="34" charset="-120"/>
              </a:rPr>
              <a:t>Two directory entries</a:t>
            </a:r>
            <a:endParaRPr lang="en-US" sz="1500" dirty="0"/>
          </a:p>
        </p:txBody>
      </p:sp>
      <p:sp>
        <p:nvSpPr>
          <p:cNvPr id="10" name="Shape 7"/>
          <p:cNvSpPr/>
          <p:nvPr/>
        </p:nvSpPr>
        <p:spPr>
          <a:xfrm>
            <a:off x="4023360" y="2057400"/>
            <a:ext cx="1737360" cy="868680"/>
          </a:xfrm>
          <a:prstGeom prst="line">
            <a:avLst/>
          </a:prstGeom>
          <a:noFill/>
          <a:ln w="38100">
            <a:solidFill>
              <a:srgbClr val="1FA6A0"/>
            </a:solidFill>
            <a:prstDash val="solid"/>
            <a:tailEnd type="triangle"/>
          </a:ln>
        </p:spPr>
      </p:sp>
      <p:sp>
        <p:nvSpPr>
          <p:cNvPr id="11" name="Shape 8"/>
          <p:cNvSpPr/>
          <p:nvPr/>
        </p:nvSpPr>
        <p:spPr>
          <a:xfrm flipV="1">
            <a:off x="4023360" y="3886200"/>
            <a:ext cx="1737360" cy="0"/>
          </a:xfrm>
          <a:prstGeom prst="line">
            <a:avLst/>
          </a:prstGeom>
          <a:noFill/>
          <a:ln w="38100">
            <a:solidFill>
              <a:srgbClr val="F5A623"/>
            </a:solidFill>
            <a:prstDash val="solid"/>
            <a:tailEnd type="triangle"/>
          </a:ln>
        </p:spPr>
      </p:sp>
      <p:sp>
        <p:nvSpPr>
          <p:cNvPr id="12" name="Shape 9"/>
          <p:cNvSpPr/>
          <p:nvPr/>
        </p:nvSpPr>
        <p:spPr>
          <a:xfrm>
            <a:off x="5943600" y="2194560"/>
            <a:ext cx="2651760" cy="1737360"/>
          </a:xfrm>
          <a:prstGeom prst="roundRect">
            <a:avLst>
              <a:gd name="adj" fmla="val 7895"/>
            </a:avLst>
          </a:prstGeom>
          <a:solidFill>
            <a:srgbClr val="1B2A49"/>
          </a:solidFill>
          <a:ln w="12700">
            <a:solidFill>
              <a:srgbClr val="1B2A49"/>
            </a:solidFill>
            <a:prstDash val="solid"/>
          </a:ln>
          <a:effectLst>
            <a:outerShdw blurRad="101600" dist="25400" dir="5400000" algn="bl" rotWithShape="0">
              <a:srgbClr val="000000">
                <a:alpha val="12000"/>
              </a:srgbClr>
            </a:outerShdw>
          </a:effectLst>
        </p:spPr>
      </p:sp>
      <p:sp>
        <p:nvSpPr>
          <p:cNvPr id="13" name="Text 10"/>
          <p:cNvSpPr txBox="1"/>
          <p:nvPr/>
        </p:nvSpPr>
        <p:spPr>
          <a:xfrm>
            <a:off x="5943600" y="2286000"/>
            <a:ext cx="2651760" cy="548640"/>
          </a:xfrm>
          <a:prstGeom prst="rect">
            <a:avLst/>
          </a:prstGeom>
          <a:noFill/>
          <a:ln/>
        </p:spPr>
        <p:txBody>
          <a:bodyPr wrap="square" lIns="0" tIns="0" rIns="0" bIns="0" rtlCol="0" anchor="ctr"/>
          <a:lstStyle/>
          <a:p>
            <a:pPr marL="0" indent="0" algn="ctr">
              <a:buNone/>
            </a:pPr>
            <a:r>
              <a:rPr lang="en-US" sz="2400" b="1" dirty="0">
                <a:solidFill>
                  <a:srgbClr val="FFFFFF"/>
                </a:solidFill>
                <a:latin typeface="Cambria" pitchFamily="34" charset="0"/>
                <a:ea typeface="Cambria" pitchFamily="34" charset="-122"/>
                <a:cs typeface="Cambria" pitchFamily="34" charset="-120"/>
              </a:rPr>
              <a:t>Inode 1052</a:t>
            </a:r>
            <a:endParaRPr lang="en-US" sz="2400" dirty="0"/>
          </a:p>
        </p:txBody>
      </p:sp>
      <p:sp>
        <p:nvSpPr>
          <p:cNvPr id="14" name="Text 11"/>
          <p:cNvSpPr txBox="1"/>
          <p:nvPr/>
        </p:nvSpPr>
        <p:spPr>
          <a:xfrm>
            <a:off x="5943600" y="2926080"/>
            <a:ext cx="2651760" cy="457200"/>
          </a:xfrm>
          <a:prstGeom prst="rect">
            <a:avLst/>
          </a:prstGeom>
          <a:noFill/>
          <a:ln/>
        </p:spPr>
        <p:txBody>
          <a:bodyPr wrap="square" lIns="0" tIns="0" rIns="0" bIns="0" rtlCol="0" anchor="ctr"/>
          <a:lstStyle/>
          <a:p>
            <a:pPr marL="0" indent="0" algn="ctr">
              <a:buNone/>
            </a:pPr>
            <a:r>
              <a:rPr lang="en-US" sz="1800" b="1" dirty="0">
                <a:solidFill>
                  <a:srgbClr val="F5A623"/>
                </a:solidFill>
                <a:latin typeface="Calibri" pitchFamily="34" charset="0"/>
                <a:ea typeface="Calibri" pitchFamily="34" charset="-122"/>
                <a:cs typeface="Calibri" pitchFamily="34" charset="-120"/>
              </a:rPr>
              <a:t>Link count: 2</a:t>
            </a:r>
            <a:endParaRPr lang="en-US" sz="1800" dirty="0"/>
          </a:p>
        </p:txBody>
      </p:sp>
      <p:sp>
        <p:nvSpPr>
          <p:cNvPr id="15" name="Shape 12"/>
          <p:cNvSpPr/>
          <p:nvPr/>
        </p:nvSpPr>
        <p:spPr>
          <a:xfrm>
            <a:off x="8732520" y="2834640"/>
            <a:ext cx="548640" cy="411480"/>
          </a:xfrm>
          <a:prstGeom prst="rightArrow">
            <a:avLst/>
          </a:prstGeom>
          <a:solidFill>
            <a:srgbClr val="F5A623"/>
          </a:solidFill>
          <a:ln w="12700">
            <a:solidFill>
              <a:srgbClr val="F5A623"/>
            </a:solidFill>
            <a:prstDash val="solid"/>
          </a:ln>
        </p:spPr>
      </p:sp>
      <p:sp>
        <p:nvSpPr>
          <p:cNvPr id="16" name="Shape 13"/>
          <p:cNvSpPr/>
          <p:nvPr/>
        </p:nvSpPr>
        <p:spPr>
          <a:xfrm>
            <a:off x="9418320" y="2194560"/>
            <a:ext cx="2194560" cy="1737360"/>
          </a:xfrm>
          <a:prstGeom prst="roundRect">
            <a:avLst>
              <a:gd name="adj" fmla="val 7895"/>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sp>
      <p:sp>
        <p:nvSpPr>
          <p:cNvPr id="17" name="Text 14"/>
          <p:cNvSpPr txBox="1"/>
          <p:nvPr/>
        </p:nvSpPr>
        <p:spPr>
          <a:xfrm>
            <a:off x="9418320" y="2194560"/>
            <a:ext cx="2194560" cy="1737360"/>
          </a:xfrm>
          <a:prstGeom prst="rect">
            <a:avLst/>
          </a:prstGeom>
          <a:noFill/>
          <a:ln/>
        </p:spPr>
        <p:txBody>
          <a:bodyPr wrap="square" lIns="0" tIns="0" rIns="0" bIns="0" rtlCol="0" anchor="ctr"/>
          <a:lstStyle/>
          <a:p>
            <a:pPr marL="0" indent="0" algn="ctr">
              <a:buNone/>
            </a:pPr>
            <a:r>
              <a:rPr lang="en-US" sz="2200" b="1" dirty="0">
                <a:solidFill>
                  <a:srgbClr val="1FA6A0"/>
                </a:solidFill>
                <a:latin typeface="Cambria" pitchFamily="34" charset="0"/>
                <a:ea typeface="Cambria" pitchFamily="34" charset="-122"/>
                <a:cs typeface="Cambria" pitchFamily="34" charset="-120"/>
              </a:rPr>
              <a:t>File data</a:t>
            </a:r>
            <a:endParaRPr lang="en-US" sz="2200" dirty="0"/>
          </a:p>
        </p:txBody>
      </p:sp>
      <p:sp>
        <p:nvSpPr>
          <p:cNvPr id="18" name="Shape 15"/>
          <p:cNvSpPr/>
          <p:nvPr/>
        </p:nvSpPr>
        <p:spPr>
          <a:xfrm>
            <a:off x="640080" y="5212080"/>
            <a:ext cx="10972800" cy="914400"/>
          </a:xfrm>
          <a:prstGeom prst="roundRect">
            <a:avLst>
              <a:gd name="adj" fmla="val 15000"/>
            </a:avLst>
          </a:prstGeom>
          <a:solidFill>
            <a:srgbClr val="F5A623"/>
          </a:solidFill>
          <a:ln w="12700">
            <a:solidFill>
              <a:srgbClr val="F5A623"/>
            </a:solidFill>
            <a:prstDash val="solid"/>
          </a:ln>
          <a:effectLst>
            <a:outerShdw blurRad="101600" dist="25400" dir="5400000" algn="bl" rotWithShape="0">
              <a:srgbClr val="000000">
                <a:alpha val="12000"/>
              </a:srgbClr>
            </a:outerShdw>
          </a:effectLst>
        </p:spPr>
      </p:sp>
      <p:sp>
        <p:nvSpPr>
          <p:cNvPr id="19" name="Text 16"/>
          <p:cNvSpPr txBox="1"/>
          <p:nvPr/>
        </p:nvSpPr>
        <p:spPr>
          <a:xfrm>
            <a:off x="822960" y="5212080"/>
            <a:ext cx="10607040" cy="914400"/>
          </a:xfrm>
          <a:prstGeom prst="rect">
            <a:avLst/>
          </a:prstGeom>
          <a:noFill/>
          <a:ln/>
        </p:spPr>
        <p:txBody>
          <a:bodyPr wrap="square" lIns="0" tIns="0" rIns="0" bIns="0" rtlCol="0" anchor="ctr"/>
          <a:lstStyle/>
          <a:p>
            <a:pPr marL="0" indent="0" algn="ctr">
              <a:buNone/>
            </a:pPr>
            <a:r>
              <a:rPr lang="en-US" sz="2000" b="1" dirty="0">
                <a:solidFill>
                  <a:srgbClr val="1B2A49"/>
                </a:solidFill>
                <a:latin typeface="Calibri" pitchFamily="34" charset="0"/>
                <a:ea typeface="Calibri" pitchFamily="34" charset="-122"/>
                <a:cs typeface="Calibri" pitchFamily="34" charset="-120"/>
              </a:rPr>
              <a:t>Delete one name and the file survives. It is removed only when the link count reaches 0.</a:t>
            </a:r>
            <a:endParaRPr lang="en-US" sz="2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bg>
      <p:bgPr>
        <a:solidFill>
          <a:srgbClr val="F2F6FB"/>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marL="0" indent="0">
              <a:buNone/>
            </a:pPr>
            <a:r>
              <a:rPr lang="en-US" sz="3400" dirty="0"/>
              <a:t>Conclusion</a:t>
            </a:r>
          </a:p>
        </p:txBody>
      </p:sp>
      <p:sp>
        <p:nvSpPr>
          <p:cNvPr id="3" name="Text 1"/>
          <p:cNvSpPr txBox="1"/>
          <p:nvPr/>
        </p:nvSpPr>
        <p:spPr>
          <a:xfrm>
            <a:off x="10698480" y="6400800"/>
            <a:ext cx="914400" cy="274320"/>
          </a:xfrm>
          <a:prstGeom prst="rect">
            <a:avLst/>
          </a:prstGeom>
          <a:noFill/>
          <a:ln/>
        </p:spPr>
        <p:txBody>
          <a:bodyPr wrap="square" lIns="0" tIns="0" rIns="0" bIns="0" rtlCol="0" anchor="ctr"/>
          <a:lstStyle/>
          <a:p>
            <a:pPr marL="0" indent="0" algn="r">
              <a:buNone/>
            </a:pPr>
            <a:r>
              <a:rPr lang="en-US" sz="1100" dirty="0">
                <a:solidFill>
                  <a:srgbClr val="5B6B85"/>
                </a:solidFill>
                <a:latin typeface="Calibri" pitchFamily="34" charset="0"/>
                <a:ea typeface="Calibri" pitchFamily="34" charset="-122"/>
                <a:cs typeface="Calibri" pitchFamily="34" charset="-120"/>
              </a:rPr>
              <a:t>11 / 12</a:t>
            </a:r>
            <a:endParaRPr lang="en-US" sz="1100" dirty="0"/>
          </a:p>
        </p:txBody>
      </p:sp>
      <p:sp>
        <p:nvSpPr>
          <p:cNvPr id="5" name="Shape 2"/>
          <p:cNvSpPr/>
          <p:nvPr/>
        </p:nvSpPr>
        <p:spPr>
          <a:xfrm>
            <a:off x="548640" y="1371600"/>
            <a:ext cx="3566160" cy="2926080"/>
          </a:xfrm>
          <a:prstGeom prst="roundRect">
            <a:avLst>
              <a:gd name="adj" fmla="val 4688"/>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sp>
      <p:sp>
        <p:nvSpPr>
          <p:cNvPr id="6" name="Shape 3"/>
          <p:cNvSpPr/>
          <p:nvPr/>
        </p:nvSpPr>
        <p:spPr>
          <a:xfrm>
            <a:off x="1920240" y="1600200"/>
            <a:ext cx="822960" cy="822960"/>
          </a:xfrm>
          <a:prstGeom prst="ellipse">
            <a:avLst/>
          </a:prstGeom>
          <a:solidFill>
            <a:srgbClr val="1FA6A0"/>
          </a:solidFill>
          <a:ln w="12700">
            <a:solidFill>
              <a:srgbClr val="1FA6A0"/>
            </a:solidFill>
            <a:prstDash val="solid"/>
          </a:ln>
        </p:spPr>
      </p:sp>
      <p:sp>
        <p:nvSpPr>
          <p:cNvPr id="7" name="Text 4"/>
          <p:cNvSpPr txBox="1"/>
          <p:nvPr/>
        </p:nvSpPr>
        <p:spPr>
          <a:xfrm>
            <a:off x="1920240" y="1600200"/>
            <a:ext cx="822960" cy="822960"/>
          </a:xfrm>
          <a:prstGeom prst="rect">
            <a:avLst/>
          </a:prstGeom>
          <a:noFill/>
          <a:ln/>
        </p:spPr>
        <p:txBody>
          <a:bodyPr wrap="square" lIns="0" tIns="0" rIns="0" bIns="0" rtlCol="0" anchor="ctr"/>
          <a:lstStyle/>
          <a:p>
            <a:pPr marL="0" indent="0" algn="ctr">
              <a:buNone/>
            </a:pPr>
            <a:r>
              <a:rPr lang="en-US" sz="2800" b="1" dirty="0">
                <a:solidFill>
                  <a:srgbClr val="FFFFFF"/>
                </a:solidFill>
                <a:latin typeface="Calibri" pitchFamily="34" charset="0"/>
                <a:ea typeface="Calibri" pitchFamily="34" charset="-122"/>
                <a:cs typeface="Calibri" pitchFamily="34" charset="-120"/>
              </a:rPr>
              <a:t>1</a:t>
            </a:r>
            <a:endParaRPr lang="en-US" sz="2800" dirty="0"/>
          </a:p>
        </p:txBody>
      </p:sp>
      <p:sp>
        <p:nvSpPr>
          <p:cNvPr id="8" name="Text 5"/>
          <p:cNvSpPr txBox="1"/>
          <p:nvPr/>
        </p:nvSpPr>
        <p:spPr>
          <a:xfrm>
            <a:off x="640080" y="2606040"/>
            <a:ext cx="3383280" cy="457200"/>
          </a:xfrm>
          <a:prstGeom prst="rect">
            <a:avLst/>
          </a:prstGeom>
          <a:noFill/>
          <a:ln/>
        </p:spPr>
        <p:txBody>
          <a:bodyPr wrap="square" lIns="0" tIns="0" rIns="0" bIns="0" rtlCol="0" anchor="ctr"/>
          <a:lstStyle/>
          <a:p>
            <a:pPr marL="0" indent="0" algn="ctr">
              <a:buNone/>
            </a:pPr>
            <a:r>
              <a:rPr lang="en-US" sz="2400" b="1" dirty="0">
                <a:solidFill>
                  <a:srgbClr val="1B2A49"/>
                </a:solidFill>
                <a:latin typeface="Cambria" pitchFamily="34" charset="0"/>
                <a:ea typeface="Cambria" pitchFamily="34" charset="-122"/>
                <a:cs typeface="Cambria" pitchFamily="34" charset="-120"/>
              </a:rPr>
              <a:t>Directory</a:t>
            </a:r>
            <a:endParaRPr lang="en-US" sz="2400" dirty="0"/>
          </a:p>
        </p:txBody>
      </p:sp>
      <p:sp>
        <p:nvSpPr>
          <p:cNvPr id="9" name="Text 6"/>
          <p:cNvSpPr txBox="1"/>
          <p:nvPr/>
        </p:nvSpPr>
        <p:spPr>
          <a:xfrm>
            <a:off x="822960" y="3200400"/>
            <a:ext cx="3017520" cy="914400"/>
          </a:xfrm>
          <a:prstGeom prst="rect">
            <a:avLst/>
          </a:prstGeom>
          <a:noFill/>
          <a:ln/>
        </p:spPr>
        <p:txBody>
          <a:bodyPr wrap="square" lIns="0" tIns="0" rIns="0" bIns="0" rtlCol="0" anchor="t"/>
          <a:lstStyle/>
          <a:p>
            <a:pPr marL="0" indent="0" algn="ctr">
              <a:buNone/>
            </a:pPr>
            <a:r>
              <a:rPr lang="en-US" sz="1700" dirty="0">
                <a:solidFill>
                  <a:srgbClr val="22304A"/>
                </a:solidFill>
                <a:latin typeface="Calibri" pitchFamily="34" charset="0"/>
                <a:ea typeface="Calibri" pitchFamily="34" charset="-122"/>
                <a:cs typeface="Calibri" pitchFamily="34" charset="-120"/>
              </a:rPr>
              <a:t>Organizes files and holds a list of entries</a:t>
            </a:r>
            <a:endParaRPr lang="en-US" sz="1700" dirty="0"/>
          </a:p>
        </p:txBody>
      </p:sp>
      <p:sp>
        <p:nvSpPr>
          <p:cNvPr id="10" name="Shape 7"/>
          <p:cNvSpPr/>
          <p:nvPr/>
        </p:nvSpPr>
        <p:spPr>
          <a:xfrm>
            <a:off x="4343400" y="1371600"/>
            <a:ext cx="3566160" cy="2926080"/>
          </a:xfrm>
          <a:prstGeom prst="roundRect">
            <a:avLst>
              <a:gd name="adj" fmla="val 4688"/>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sp>
      <p:sp>
        <p:nvSpPr>
          <p:cNvPr id="11" name="Shape 8"/>
          <p:cNvSpPr/>
          <p:nvPr/>
        </p:nvSpPr>
        <p:spPr>
          <a:xfrm>
            <a:off x="5715000" y="1600200"/>
            <a:ext cx="822960" cy="822960"/>
          </a:xfrm>
          <a:prstGeom prst="ellipse">
            <a:avLst/>
          </a:prstGeom>
          <a:solidFill>
            <a:srgbClr val="F5A623"/>
          </a:solidFill>
          <a:ln w="12700">
            <a:solidFill>
              <a:srgbClr val="F5A623"/>
            </a:solidFill>
            <a:prstDash val="solid"/>
          </a:ln>
        </p:spPr>
      </p:sp>
      <p:sp>
        <p:nvSpPr>
          <p:cNvPr id="12" name="Text 9"/>
          <p:cNvSpPr txBox="1"/>
          <p:nvPr/>
        </p:nvSpPr>
        <p:spPr>
          <a:xfrm>
            <a:off x="5715000" y="1600200"/>
            <a:ext cx="822960" cy="822960"/>
          </a:xfrm>
          <a:prstGeom prst="rect">
            <a:avLst/>
          </a:prstGeom>
          <a:noFill/>
          <a:ln/>
        </p:spPr>
        <p:txBody>
          <a:bodyPr wrap="square" lIns="0" tIns="0" rIns="0" bIns="0" rtlCol="0" anchor="ctr"/>
          <a:lstStyle/>
          <a:p>
            <a:pPr marL="0" indent="0" algn="ctr">
              <a:buNone/>
            </a:pPr>
            <a:r>
              <a:rPr lang="en-US" sz="2800" b="1" dirty="0">
                <a:solidFill>
                  <a:srgbClr val="1B2A49"/>
                </a:solidFill>
                <a:latin typeface="Calibri" pitchFamily="34" charset="0"/>
                <a:ea typeface="Calibri" pitchFamily="34" charset="-122"/>
                <a:cs typeface="Calibri" pitchFamily="34" charset="-120"/>
              </a:rPr>
              <a:t>2</a:t>
            </a:r>
            <a:endParaRPr lang="en-US" sz="2800" dirty="0"/>
          </a:p>
        </p:txBody>
      </p:sp>
      <p:sp>
        <p:nvSpPr>
          <p:cNvPr id="13" name="Text 10"/>
          <p:cNvSpPr txBox="1"/>
          <p:nvPr/>
        </p:nvSpPr>
        <p:spPr>
          <a:xfrm>
            <a:off x="4434840" y="2606040"/>
            <a:ext cx="3383280" cy="457200"/>
          </a:xfrm>
          <a:prstGeom prst="rect">
            <a:avLst/>
          </a:prstGeom>
          <a:noFill/>
          <a:ln/>
        </p:spPr>
        <p:txBody>
          <a:bodyPr wrap="square" lIns="0" tIns="0" rIns="0" bIns="0" rtlCol="0" anchor="ctr"/>
          <a:lstStyle/>
          <a:p>
            <a:pPr marL="0" indent="0" algn="ctr">
              <a:buNone/>
            </a:pPr>
            <a:r>
              <a:rPr lang="en-US" sz="2400" b="1" dirty="0">
                <a:solidFill>
                  <a:srgbClr val="1B2A49"/>
                </a:solidFill>
                <a:latin typeface="Cambria" pitchFamily="34" charset="0"/>
                <a:ea typeface="Cambria" pitchFamily="34" charset="-122"/>
                <a:cs typeface="Cambria" pitchFamily="34" charset="-120"/>
              </a:rPr>
              <a:t>Directory Entry</a:t>
            </a:r>
            <a:endParaRPr lang="en-US" sz="2400" dirty="0"/>
          </a:p>
        </p:txBody>
      </p:sp>
      <p:sp>
        <p:nvSpPr>
          <p:cNvPr id="14" name="Text 11"/>
          <p:cNvSpPr txBox="1"/>
          <p:nvPr/>
        </p:nvSpPr>
        <p:spPr>
          <a:xfrm>
            <a:off x="4617720" y="3200400"/>
            <a:ext cx="3017520" cy="914400"/>
          </a:xfrm>
          <a:prstGeom prst="rect">
            <a:avLst/>
          </a:prstGeom>
          <a:noFill/>
          <a:ln/>
        </p:spPr>
        <p:txBody>
          <a:bodyPr wrap="square" lIns="0" tIns="0" rIns="0" bIns="0" rtlCol="0" anchor="t"/>
          <a:lstStyle/>
          <a:p>
            <a:pPr marL="0" indent="0" algn="ctr">
              <a:buNone/>
            </a:pPr>
            <a:r>
              <a:rPr lang="en-US" sz="1700" dirty="0">
                <a:solidFill>
                  <a:srgbClr val="22304A"/>
                </a:solidFill>
                <a:latin typeface="Calibri" pitchFamily="34" charset="0"/>
                <a:ea typeface="Calibri" pitchFamily="34" charset="-122"/>
                <a:cs typeface="Calibri" pitchFamily="34" charset="-120"/>
              </a:rPr>
              <a:t>Connects a name to an inode number</a:t>
            </a:r>
            <a:endParaRPr lang="en-US" sz="1700" dirty="0"/>
          </a:p>
        </p:txBody>
      </p:sp>
      <p:sp>
        <p:nvSpPr>
          <p:cNvPr id="15" name="Shape 12"/>
          <p:cNvSpPr/>
          <p:nvPr/>
        </p:nvSpPr>
        <p:spPr>
          <a:xfrm>
            <a:off x="8138160" y="1371600"/>
            <a:ext cx="3566160" cy="2926080"/>
          </a:xfrm>
          <a:prstGeom prst="roundRect">
            <a:avLst>
              <a:gd name="adj" fmla="val 4688"/>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sp>
      <p:sp>
        <p:nvSpPr>
          <p:cNvPr id="16" name="Shape 13"/>
          <p:cNvSpPr/>
          <p:nvPr/>
        </p:nvSpPr>
        <p:spPr>
          <a:xfrm>
            <a:off x="9509760" y="1600200"/>
            <a:ext cx="822960" cy="822960"/>
          </a:xfrm>
          <a:prstGeom prst="ellipse">
            <a:avLst/>
          </a:prstGeom>
          <a:solidFill>
            <a:srgbClr val="1B2A49"/>
          </a:solidFill>
          <a:ln w="12700">
            <a:solidFill>
              <a:srgbClr val="1B2A49"/>
            </a:solidFill>
            <a:prstDash val="solid"/>
          </a:ln>
        </p:spPr>
      </p:sp>
      <p:sp>
        <p:nvSpPr>
          <p:cNvPr id="17" name="Text 14"/>
          <p:cNvSpPr txBox="1"/>
          <p:nvPr/>
        </p:nvSpPr>
        <p:spPr>
          <a:xfrm>
            <a:off x="9509760" y="1600200"/>
            <a:ext cx="822960" cy="822960"/>
          </a:xfrm>
          <a:prstGeom prst="rect">
            <a:avLst/>
          </a:prstGeom>
          <a:noFill/>
          <a:ln/>
        </p:spPr>
        <p:txBody>
          <a:bodyPr wrap="square" lIns="0" tIns="0" rIns="0" bIns="0" rtlCol="0" anchor="ctr"/>
          <a:lstStyle/>
          <a:p>
            <a:pPr marL="0" indent="0" algn="ctr">
              <a:buNone/>
            </a:pPr>
            <a:r>
              <a:rPr lang="en-US" sz="2800" b="1" dirty="0">
                <a:solidFill>
                  <a:srgbClr val="FFFFFF"/>
                </a:solidFill>
                <a:latin typeface="Calibri" pitchFamily="34" charset="0"/>
                <a:ea typeface="Calibri" pitchFamily="34" charset="-122"/>
                <a:cs typeface="Calibri" pitchFamily="34" charset="-120"/>
              </a:rPr>
              <a:t>3</a:t>
            </a:r>
            <a:endParaRPr lang="en-US" sz="2800" dirty="0"/>
          </a:p>
        </p:txBody>
      </p:sp>
      <p:sp>
        <p:nvSpPr>
          <p:cNvPr id="18" name="Text 15"/>
          <p:cNvSpPr txBox="1"/>
          <p:nvPr/>
        </p:nvSpPr>
        <p:spPr>
          <a:xfrm>
            <a:off x="8229600" y="2606040"/>
            <a:ext cx="3383280" cy="457200"/>
          </a:xfrm>
          <a:prstGeom prst="rect">
            <a:avLst/>
          </a:prstGeom>
          <a:noFill/>
          <a:ln/>
        </p:spPr>
        <p:txBody>
          <a:bodyPr wrap="square" lIns="0" tIns="0" rIns="0" bIns="0" rtlCol="0" anchor="ctr"/>
          <a:lstStyle/>
          <a:p>
            <a:pPr marL="0" indent="0" algn="ctr">
              <a:buNone/>
            </a:pPr>
            <a:r>
              <a:rPr lang="en-US" sz="2400" b="1" dirty="0">
                <a:solidFill>
                  <a:srgbClr val="1B2A49"/>
                </a:solidFill>
                <a:latin typeface="Cambria" pitchFamily="34" charset="0"/>
                <a:ea typeface="Cambria" pitchFamily="34" charset="-122"/>
                <a:cs typeface="Cambria" pitchFamily="34" charset="-120"/>
              </a:rPr>
              <a:t>Inode</a:t>
            </a:r>
            <a:endParaRPr lang="en-US" sz="2400" dirty="0"/>
          </a:p>
        </p:txBody>
      </p:sp>
      <p:sp>
        <p:nvSpPr>
          <p:cNvPr id="19" name="Text 16"/>
          <p:cNvSpPr txBox="1"/>
          <p:nvPr/>
        </p:nvSpPr>
        <p:spPr>
          <a:xfrm>
            <a:off x="8412480" y="3200400"/>
            <a:ext cx="3017520" cy="914400"/>
          </a:xfrm>
          <a:prstGeom prst="rect">
            <a:avLst/>
          </a:prstGeom>
          <a:noFill/>
          <a:ln/>
        </p:spPr>
        <p:txBody>
          <a:bodyPr wrap="square" lIns="0" tIns="0" rIns="0" bIns="0" rtlCol="0" anchor="t"/>
          <a:lstStyle/>
          <a:p>
            <a:pPr marL="0" indent="0" algn="ctr">
              <a:buNone/>
            </a:pPr>
            <a:r>
              <a:rPr lang="en-US" sz="1700" dirty="0">
                <a:solidFill>
                  <a:srgbClr val="22304A"/>
                </a:solidFill>
                <a:latin typeface="Calibri" pitchFamily="34" charset="0"/>
                <a:ea typeface="Calibri" pitchFamily="34" charset="-122"/>
                <a:cs typeface="Calibri" pitchFamily="34" charset="-120"/>
              </a:rPr>
              <a:t>Identifies the file and stores its metadata</a:t>
            </a:r>
            <a:endParaRPr lang="en-US" sz="1700" dirty="0"/>
          </a:p>
        </p:txBody>
      </p:sp>
      <p:sp>
        <p:nvSpPr>
          <p:cNvPr id="20" name="Shape 17"/>
          <p:cNvSpPr/>
          <p:nvPr/>
        </p:nvSpPr>
        <p:spPr>
          <a:xfrm>
            <a:off x="548640" y="4663440"/>
            <a:ext cx="11064240" cy="1371600"/>
          </a:xfrm>
          <a:prstGeom prst="roundRect">
            <a:avLst>
              <a:gd name="adj" fmla="val 10000"/>
            </a:avLst>
          </a:prstGeom>
          <a:solidFill>
            <a:srgbClr val="1B2A49"/>
          </a:solidFill>
          <a:ln w="12700">
            <a:solidFill>
              <a:srgbClr val="1B2A49"/>
            </a:solidFill>
            <a:prstDash val="solid"/>
          </a:ln>
          <a:effectLst>
            <a:outerShdw blurRad="101600" dist="25400" dir="5400000" algn="bl" rotWithShape="0">
              <a:srgbClr val="000000">
                <a:alpha val="12000"/>
              </a:srgbClr>
            </a:outerShdw>
          </a:effectLst>
        </p:spPr>
      </p:sp>
      <p:sp>
        <p:nvSpPr>
          <p:cNvPr id="21" name="Text 18"/>
          <p:cNvSpPr txBox="1"/>
          <p:nvPr/>
        </p:nvSpPr>
        <p:spPr>
          <a:xfrm>
            <a:off x="914400" y="4663440"/>
            <a:ext cx="10332720" cy="1371600"/>
          </a:xfrm>
          <a:prstGeom prst="rect">
            <a:avLst/>
          </a:prstGeom>
          <a:noFill/>
          <a:ln/>
        </p:spPr>
        <p:txBody>
          <a:bodyPr wrap="square" lIns="0" tIns="0" rIns="0" bIns="0" rtlCol="0" anchor="ctr"/>
          <a:lstStyle/>
          <a:p>
            <a:pPr marL="0" indent="0">
              <a:buNone/>
            </a:pPr>
            <a:r>
              <a:rPr lang="en-US" sz="2200" b="1" dirty="0">
                <a:solidFill>
                  <a:srgbClr val="F5A623"/>
                </a:solidFill>
                <a:latin typeface="Calibri" pitchFamily="34" charset="0"/>
                <a:ea typeface="Calibri" pitchFamily="34" charset="-122"/>
                <a:cs typeface="Calibri" pitchFamily="34" charset="-120"/>
              </a:rPr>
              <a:t>Main idea: </a:t>
            </a:r>
            <a:r>
              <a:rPr lang="en-US" sz="2200" dirty="0">
                <a:solidFill>
                  <a:srgbClr val="FFFFFF"/>
                </a:solidFill>
                <a:latin typeface="Calibri" pitchFamily="34" charset="0"/>
                <a:ea typeface="Calibri" pitchFamily="34" charset="-122"/>
                <a:cs typeface="Calibri" pitchFamily="34" charset="-120"/>
              </a:rPr>
              <a:t>file names and inodes are separate. Directory entries connect them, so one file can have many names.</a:t>
            </a:r>
            <a:endParaRPr lang="en-US" sz="2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bg>
      <p:bgPr>
        <a:solidFill>
          <a:srgbClr val="1B2A49"/>
        </a:solidFill>
        <a:effectLst/>
      </p:bgPr>
    </p:bg>
    <p:spTree>
      <p:nvGrpSpPr>
        <p:cNvPr id="1" name=""/>
        <p:cNvGrpSpPr/>
        <p:nvPr/>
      </p:nvGrpSpPr>
      <p:grpSpPr>
        <a:xfrm>
          <a:off x="0" y="0"/>
          <a:ext cx="0" cy="0"/>
          <a:chOff x="0" y="0"/>
          <a:chExt cx="0" cy="0"/>
        </a:xfrm>
      </p:grpSpPr>
      <p:sp>
        <p:nvSpPr>
          <p:cNvPr id="2" name="Text 0"/>
          <p:cNvSpPr txBox="1"/>
          <p:nvPr/>
        </p:nvSpPr>
        <p:spPr>
          <a:xfrm>
            <a:off x="731520" y="2103120"/>
            <a:ext cx="10698480" cy="1188720"/>
          </a:xfrm>
          <a:prstGeom prst="rect">
            <a:avLst/>
          </a:prstGeom>
          <a:noFill/>
          <a:ln/>
        </p:spPr>
        <p:txBody>
          <a:bodyPr wrap="square" lIns="0" tIns="0" rIns="0" bIns="0" rtlCol="0" anchor="ctr"/>
          <a:lstStyle/>
          <a:p>
            <a:pPr marL="0" indent="0" algn="ctr">
              <a:buNone/>
            </a:pPr>
            <a:r>
              <a:rPr lang="en-US" sz="6000" b="1" dirty="0">
                <a:solidFill>
                  <a:srgbClr val="FFFFFF"/>
                </a:solidFill>
                <a:latin typeface="Cambria" pitchFamily="34" charset="0"/>
                <a:ea typeface="Cambria" pitchFamily="34" charset="-122"/>
                <a:cs typeface="Cambria" pitchFamily="34" charset="-120"/>
              </a:rPr>
              <a:t>Thank You</a:t>
            </a:r>
            <a:endParaRPr lang="en-US" sz="6000" dirty="0"/>
          </a:p>
        </p:txBody>
      </p:sp>
      <p:sp>
        <p:nvSpPr>
          <p:cNvPr id="4" name="Text 2"/>
          <p:cNvSpPr txBox="1"/>
          <p:nvPr/>
        </p:nvSpPr>
        <p:spPr>
          <a:xfrm>
            <a:off x="731520" y="5120640"/>
            <a:ext cx="10698480" cy="457200"/>
          </a:xfrm>
          <a:prstGeom prst="rect">
            <a:avLst/>
          </a:prstGeom>
          <a:noFill/>
          <a:ln/>
        </p:spPr>
        <p:txBody>
          <a:bodyPr wrap="square" lIns="0" tIns="0" rIns="0" bIns="0" rtlCol="0" anchor="ctr"/>
          <a:lstStyle/>
          <a:p>
            <a:pPr marL="0" indent="0" algn="ctr">
              <a:buNone/>
            </a:pPr>
            <a:r>
              <a:rPr lang="en-US" sz="1600" dirty="0">
                <a:solidFill>
                  <a:srgbClr val="CADCFC"/>
                </a:solidFill>
                <a:latin typeface="Calibri" pitchFamily="34" charset="0"/>
                <a:ea typeface="Calibri" pitchFamily="34" charset="-122"/>
                <a:cs typeface="Calibri" pitchFamily="34" charset="-120"/>
              </a:rPr>
              <a:t>M. Lalitha  ·  2520080063</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22</TotalTime>
  <Words>1129</Words>
  <Application>Microsoft Office PowerPoint</Application>
  <PresentationFormat>Widescreen</PresentationFormat>
  <Paragraphs>180</Paragraphs>
  <Slides>11</Slides>
  <Notes>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Directory Entries and File Naming</dc:title>
  <dc:subject>PptxGenJS Presentation</dc:subject>
  <dc:creator>PptxGenJS</dc:creator>
  <cp:lastModifiedBy>mallulalalitha08@outlook.com</cp:lastModifiedBy>
  <cp:revision>2</cp:revision>
  <dcterms:created xsi:type="dcterms:W3CDTF">2026-09-30T03:33:14Z</dcterms:created>
  <dcterms:modified xsi:type="dcterms:W3CDTF">2026-09-30T03:59:59Z</dcterms:modified>
</cp:coreProperties>
</file>